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4" r:id="rId8"/>
    <p:sldId id="263" r:id="rId9"/>
    <p:sldId id="268" r:id="rId10"/>
    <p:sldId id="265" r:id="rId11"/>
    <p:sldId id="266" r:id="rId12"/>
    <p:sldId id="269" r:id="rId13"/>
    <p:sldId id="262" r:id="rId14"/>
    <p:sldId id="261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8"/>
        <p:guide pos="286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0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p>
            <a:endParaRPr lang="zh-CN"/>
          </a:p>
        </p:txBody>
      </p:sp>
      <p:sp>
        <p:nvSpPr>
          <p:cNvPr id="1049409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p>
            <a:endParaRPr lang="zh-CN"/>
          </a:p>
        </p:txBody>
      </p:sp>
      <p:sp>
        <p:nvSpPr>
          <p:cNvPr id="10494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10494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p>
            <a:endParaRPr lang="zh-CN"/>
          </a:p>
        </p:txBody>
      </p:sp>
      <p:sp>
        <p:nvSpPr>
          <p:cNvPr id="10494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p>
            <a:endParaRPr lang="zh-CN"/>
          </a:p>
        </p:txBody>
      </p:sp>
      <p:sp>
        <p:nvSpPr>
          <p:cNvPr id="104941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00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这是整册的封面：贝之然 BEST LAND，2025 宣传简介，中英宣传册。底部一行是品牌最常被引用的五个词——天然环保、即刷即住、耐水耐擦、A1 级防火、抗菌防霉，后面每一页都在为这五个词提供证据。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20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这一页放的是公司商标注册证原件。要说明的是「贝之然」是已注册的自有品牌，注册主体是东莞市贝歌科技有限公司，右侧证书可以放大核对注册号与核定使用范围。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38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品牌标识页。羽形三色标识与「贝之然」「BEST LAND」中英标准字固定组合使用，定位是外墙定制服务商，口号是一次接触、永不分离。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6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六项产品优势：环保零污染、耐洗耐刷像陶瓷、A1 级防火、外墙耐老化、施工简单性价比高、直接材料成本更低，各项都高于国家标准与欧洲标准。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3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发明专利证书原件，整页呈现不裁切，可放大核对专利名称与专利号。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6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纯无机核心材料，25 公斤包装，是整个无机体系的基础材料，与无机底固、界面剂配套使用。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7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第三方检测报告封面，带 CMA 与 CNAS 标识。检测结论是未检出 VOC、甲醛、苯系物。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5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第三方检测报告封面，带 CMA 与 CNAS 标识。检测结论是未检出 VOC、甲醛、苯系物。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62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第三方检测报告封面，带 CMA 与 CNAS 标识。检测结论是未检出 VOC、甲醛、苯系物。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8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8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ISO 三体认证证书，认证主体是东莞市贝歌科技有限公司，覆盖无机涂料的研发、生产与销售。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08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同一面墙的三个阶段：原始水泥砂浆墙面、两遍喷涂施工、成品墙面。这条做法替代了传统真石漆和仿石漆。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86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重点讲基面：只做到抗裂防水砂浆这一层就可以直接上无机涂料，不需要腻子找平，也不需要底漆封闭。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80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两个真实项目：肇庆端州区波海蓝湾会所、梅州大埔县茶阳镇茅坪文富村。两张照片都是现场实拍。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7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828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厦门集美侨英街道项目。旧墙修补后做抗裂防水砂浆、无机底固，再两遍喷涂，整体色调与街区风貌协调。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0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85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深圳宝安溪头工业园外墙。旧墙直接喷涂，不做整面铲除，工期短、成本可控；先做样板墙确认颜色与质感。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87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深圳宝安溪头工业园外墙。旧墙直接喷涂，不做整面铲除，工期短、成本可控；先做样板墙确认颜色与质感。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5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896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广州越秀广州宾馆内墙，用的是家装内墙系列，VOC 未检出，可以边施工边营业。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5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916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内墙成品效果：哑光、细腻，没有明显反光和接缝；陶瓷级硬度，日常擦拭不掉粉。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6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93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外墙专用 20 公斤装。抗裂防水砂浆基面上直接两遍喷涂，免腻子、免底漆。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8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95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大众化工程内墙 20 公斤装，面向公司与厂房，是主打极致性价比的系列。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0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98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政府工程内墙 20 公斤装，面向学校、医院、部队、政府办公楼，符合绿色建材加分与 A1 级防火规范。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00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家装内墙 10 公斤装，面向家庭、别墅、酒店会所，随刷随住、负氧离子释放、VOC 未检出。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8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00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这一页是负氧离子健康生活主题的宣传海报，按原图整版呈现、左右留白不裁切。它可以作为家装与儿童房部分的补充画面，让对方先看生活场景，再回到产品指标。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4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01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这一页是纯无机涂料健康生活主题的品牌海报，整版呈现。它把前面讲过的环保与随刷随住落回具体生活场景，适合作为产品段的收尾画面。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0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02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这一页是绿色建筑品牌宣传海报。它把政策要求翻译成品牌主张，方便对方把绿色建材与贝之然直接对应起来。</a:t>
            </a:r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8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04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儿童房 5 公斤装，是体系里安全等级最高的一档。</a:t>
            </a:r>
            <a:endParaRPr 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0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07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无机底固 25 公斤装，作用就是替代容易粉化的腻子粉。</a:t>
            </a:r>
            <a:endParaRPr 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09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天冬聚脲地坪漆 20 公斤装，零 VOC、耐磨抗划、耐黄变三十年。</a:t>
            </a:r>
            <a:endParaRPr 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4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11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天冬聚脲防水涂料 20 公斤装。断裂伸长率三百以上，一毫米涂膜可耐零点五兆帕水压。</a:t>
            </a:r>
            <a:endParaRPr 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6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13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抗污罩面 20 公斤装，一刷形成自洁玻璃膜，酱油、口红、涂鸦湿巾即净。</a:t>
            </a:r>
            <a:endParaRPr 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8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15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界面剂 20 公斤装，纳米硅酸盐渗透液，深入基层五毫米以上。</a:t>
            </a:r>
            <a:endParaRPr 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0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17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进入政策与合作部分。这一章要说明的是：无机涂料不是趋势判断，而是已经写进强制条款的品类。</a:t>
            </a:r>
            <a:endParaRPr 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19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四项政策：十四五建筑节能与绿色建筑规划、绿色建材产业高质量发展实施方案、全文强制的 GB 55037 防火规范、以及绿色建材行动方案。</a:t>
            </a:r>
            <a:endParaRPr 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13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214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VOC 相关的政策与标准：GB 50325 收紧限量，攻坚方案推广源头替代，产业目录把无机涂料列入鼓励类，地方还有容积率奖励与补贴。</a:t>
            </a:r>
            <a:endParaRPr 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25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参考文献共十二条，是前面政策页的公开出处。投标或报验引用时要回到官方原文。</a:t>
            </a:r>
            <a:endParaRPr 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5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266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进入品牌与推广部分。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09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310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推广矩阵三十个阵地：国内从官网、1688、淘宝、京东到抖音、小红书，跨境从谷歌、亚马逊到 TikTok Shop，图文与视频双线发布。</a:t>
            </a:r>
            <a:endParaRPr 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9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330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官方网站 bestlandpaint.com，品牌介绍、产品系列、应用案例与联系方式都在上面。</a:t>
            </a:r>
            <a:endParaRPr 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43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344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「贝之然」在百度与谷歌都能搜到品牌官网，客户搜索品牌名即可直达。</a:t>
            </a:r>
            <a:endParaRPr 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60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36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电商平台：淘宝与京东店铺已上线，1688 与拼多多同步铺货，覆盖批发与零售两类客户。</a:t>
            </a:r>
            <a:endParaRPr 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75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376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短视频平台：抖音与哔哩哔哩持续更新施工过程、旧墙改造对比与产品实验。</a:t>
            </a:r>
            <a:endParaRPr lang="zh-CN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89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390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社媒平台：百家号、小红书、微博与知乎同步运营，覆盖图文种草、案例分享与专业问答。</a:t>
            </a:r>
            <a:endParaRPr lang="zh-CN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06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40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封底：品牌创始人罗博荣，电话与微信 13602629536，邮箱 954405791@qq.com，地址是广东省东莞市大岭山镇连环路二十四号一零一室。一次接触，永不分离。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eizhiran_widescreen — Blank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1048580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/>
          </a:p>
        </p:txBody>
      </p:sp>
      <p:sp>
        <p:nvSpPr>
          <p:cNvPr id="104858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104857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104857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.jpeg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3" Type="http://schemas.openxmlformats.org/officeDocument/2006/relationships/image" Target="../media/image13.jpe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jpeg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jpe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jpe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jpe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jpe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0.jpe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1.jpe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2.jpe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6.jpe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7.jpe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jpe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9.jpe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0.jpe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1.jpe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2.jpe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3.jpe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4.jpe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5.jpe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6.jpe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8.png"/><Relationship Id="rId2" Type="http://schemas.openxmlformats.org/officeDocument/2006/relationships/image" Target="../media/image57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00050"/>
            <a:ext cx="2190750" cy="962025"/>
          </a:xfrm>
          <a:prstGeom prst="rect">
            <a:avLst/>
          </a:prstGeom>
        </p:spPr>
      </p:pic>
      <p:sp>
        <p:nvSpPr>
          <p:cNvPr id="1048582" name="brand-field-orange"/>
          <p:cNvSpPr/>
          <p:nvPr/>
        </p:nvSpPr>
        <p:spPr>
          <a:xfrm>
            <a:off x="7429500" y="0"/>
            <a:ext cx="4762500" cy="6858000"/>
          </a:xfrm>
          <a:custGeom>
            <a:avLst/>
            <a:gdLst/>
            <a:ahLst/>
            <a:cxnLst/>
            <a:rect l="l" t="t" r="r" b="b"/>
            <a:pathLst>
              <a:path w="4762500" h="6858000">
                <a:moveTo>
                  <a:pt x="0" y="0"/>
                </a:moveTo>
                <a:lnTo>
                  <a:pt x="4762500" y="0"/>
                </a:lnTo>
                <a:lnTo>
                  <a:pt x="4762500" y="6858000"/>
                </a:lnTo>
                <a:lnTo>
                  <a:pt x="219075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048583" name="brand-field-slate"/>
          <p:cNvSpPr/>
          <p:nvPr/>
        </p:nvSpPr>
        <p:spPr>
          <a:xfrm>
            <a:off x="6781800" y="0"/>
            <a:ext cx="2838450" cy="6858000"/>
          </a:xfrm>
          <a:custGeom>
            <a:avLst/>
            <a:gdLst/>
            <a:ahLst/>
            <a:cxnLst/>
            <a:rect l="l" t="t" r="r" b="b"/>
            <a:pathLst>
              <a:path w="2838450" h="6858000">
                <a:moveTo>
                  <a:pt x="0" y="0"/>
                </a:moveTo>
                <a:lnTo>
                  <a:pt x="647700" y="0"/>
                </a:lnTo>
                <a:lnTo>
                  <a:pt x="2838450" y="6858000"/>
                </a:lnTo>
                <a:lnTo>
                  <a:pt x="219075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584" name="brand-field-thin"/>
          <p:cNvSpPr/>
          <p:nvPr/>
        </p:nvSpPr>
        <p:spPr>
          <a:xfrm>
            <a:off x="6248400" y="0"/>
            <a:ext cx="2381250" cy="6858000"/>
          </a:xfrm>
          <a:custGeom>
            <a:avLst/>
            <a:gdLst/>
            <a:ahLst/>
            <a:cxnLst/>
            <a:rect l="l" t="t" r="r" b="b"/>
            <a:pathLst>
              <a:path w="2381250" h="6858000">
                <a:moveTo>
                  <a:pt x="0" y="0"/>
                </a:moveTo>
                <a:lnTo>
                  <a:pt x="190500" y="0"/>
                </a:lnTo>
                <a:lnTo>
                  <a:pt x="2381250" y="6858000"/>
                </a:lnTo>
                <a:lnTo>
                  <a:pt x="219075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grpSp>
        <p:nvGrpSpPr>
          <p:cNvPr id="16" name="cover-title"/>
          <p:cNvGrpSpPr/>
          <p:nvPr/>
        </p:nvGrpSpPr>
        <p:grpSpPr>
          <a:xfrm>
            <a:off x="895350" y="1460500"/>
            <a:ext cx="3322459" cy="3429000"/>
            <a:chOff x="895350" y="1460500"/>
            <a:chExt cx="3322459" cy="3429000"/>
          </a:xfrm>
        </p:grpSpPr>
        <p:sp>
          <p:nvSpPr>
            <p:cNvPr id="1048585" name="TextBox 6"/>
            <p:cNvSpPr txBox="1"/>
            <p:nvPr/>
          </p:nvSpPr>
          <p:spPr>
            <a:xfrm>
              <a:off x="905256" y="1460500"/>
              <a:ext cx="2057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一次接触　永不分离</a:t>
              </a:r>
              <a:endParaRPr lang="zh-CN" sz="18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586" name="TextBox 7"/>
            <p:cNvSpPr txBox="1"/>
            <p:nvPr/>
          </p:nvSpPr>
          <p:spPr>
            <a:xfrm>
              <a:off x="908304" y="1790700"/>
              <a:ext cx="2960241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ONCE CONTACT, NEVER SEPERATE</a:t>
              </a:r>
              <a:endParaRPr lang="en-US" sz="1200" spc="1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587" name="TextBox 8"/>
            <p:cNvSpPr txBox="1"/>
            <p:nvPr/>
          </p:nvSpPr>
          <p:spPr>
            <a:xfrm>
              <a:off x="895350" y="2482850"/>
              <a:ext cx="20574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贝之然</a:t>
              </a:r>
              <a:endParaRPr lang="zh-CN" sz="5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588" name="TextBox 9"/>
            <p:cNvSpPr txBox="1"/>
            <p:nvPr/>
          </p:nvSpPr>
          <p:spPr>
            <a:xfrm>
              <a:off x="903732" y="3384550"/>
              <a:ext cx="2072531" cy="304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2100" spc="6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BEST LAND</a:t>
              </a:r>
              <a:endParaRPr lang="en-US" sz="2100" spc="6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589" name="TextBox 10"/>
            <p:cNvSpPr txBox="1"/>
            <p:nvPr/>
          </p:nvSpPr>
          <p:spPr>
            <a:xfrm>
              <a:off x="899160" y="4108450"/>
              <a:ext cx="2478405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</a:t>
              </a:r>
              <a:r>
                <a:rPr lang="en-US" alt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</a:t>
              </a: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宣传简介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590" name="TextBox 11"/>
            <p:cNvSpPr txBox="1"/>
            <p:nvPr/>
          </p:nvSpPr>
          <p:spPr>
            <a:xfrm>
              <a:off x="906780" y="4660900"/>
              <a:ext cx="33110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中英宣传册　Chinese-English Brochure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cover-claims"/>
          <p:cNvGrpSpPr/>
          <p:nvPr/>
        </p:nvGrpSpPr>
        <p:grpSpPr>
          <a:xfrm>
            <a:off x="914400" y="5448300"/>
            <a:ext cx="5753100" cy="609600"/>
            <a:chOff x="914400" y="5448300"/>
            <a:chExt cx="5753100" cy="609600"/>
          </a:xfrm>
        </p:grpSpPr>
        <p:sp>
          <p:nvSpPr>
            <p:cNvPr id="1048591" name="Freeform 13"/>
            <p:cNvSpPr/>
            <p:nvPr/>
          </p:nvSpPr>
          <p:spPr>
            <a:xfrm>
              <a:off x="914400" y="5448300"/>
              <a:ext cx="5753100" cy="609600"/>
            </a:xfrm>
            <a:custGeom>
              <a:avLst/>
              <a:gdLst/>
              <a:ahLst/>
              <a:cxnLst/>
              <a:rect l="l" t="t" r="r" b="b"/>
              <a:pathLst>
                <a:path w="5753100" h="609600">
                  <a:moveTo>
                    <a:pt x="0" y="0"/>
                  </a:moveTo>
                  <a:lnTo>
                    <a:pt x="0" y="609600"/>
                  </a:lnTo>
                  <a:lnTo>
                    <a:pt x="5753100" y="6096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048592" name="TextBox 14"/>
            <p:cNvSpPr txBox="1"/>
            <p:nvPr/>
          </p:nvSpPr>
          <p:spPr>
            <a:xfrm>
              <a:off x="1059942" y="5549900"/>
              <a:ext cx="402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天然环保｜即刷即住｜耐水耐擦｜A1 级防火｜抗菌防霉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593" name="TextBox 15"/>
            <p:cNvSpPr txBox="1"/>
            <p:nvPr/>
          </p:nvSpPr>
          <p:spPr>
            <a:xfrm>
              <a:off x="1059942" y="5835650"/>
              <a:ext cx="165100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无机健康涂料领导品牌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cover-seal"/>
          <p:cNvGrpSpPr/>
          <p:nvPr/>
        </p:nvGrpSpPr>
        <p:grpSpPr>
          <a:xfrm>
            <a:off x="9912648" y="5473700"/>
            <a:ext cx="1563072" cy="476250"/>
            <a:chOff x="9912648" y="5473700"/>
            <a:chExt cx="1563072" cy="476250"/>
          </a:xfrm>
        </p:grpSpPr>
        <p:sp>
          <p:nvSpPr>
            <p:cNvPr id="1048594" name="TextBox 17"/>
            <p:cNvSpPr txBox="1"/>
            <p:nvPr/>
          </p:nvSpPr>
          <p:spPr>
            <a:xfrm>
              <a:off x="9912648" y="5473700"/>
              <a:ext cx="1435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天然矿物 · 海洋贝壳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595" name="TextBox 18"/>
            <p:cNvSpPr txBox="1"/>
            <p:nvPr/>
          </p:nvSpPr>
          <p:spPr>
            <a:xfrm>
              <a:off x="10485120" y="5759450"/>
              <a:ext cx="990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生物活化工艺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596" name="Rectangle 2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597" name="TextBox 21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598" name="TextBox 22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601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57" name="page-title"/>
          <p:cNvGrpSpPr/>
          <p:nvPr/>
        </p:nvGrpSpPr>
        <p:grpSpPr>
          <a:xfrm>
            <a:off x="746760" y="622300"/>
            <a:ext cx="3062006" cy="892175"/>
            <a:chOff x="746760" y="622300"/>
            <a:chExt cx="3062006" cy="892175"/>
          </a:xfrm>
        </p:grpSpPr>
        <p:sp>
          <p:nvSpPr>
            <p:cNvPr id="1048602" name="TextBox 4"/>
            <p:cNvSpPr txBox="1"/>
            <p:nvPr/>
          </p:nvSpPr>
          <p:spPr>
            <a:xfrm>
              <a:off x="746760" y="622300"/>
              <a:ext cx="2667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公司商标注册证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03" name="TextBox 5"/>
            <p:cNvSpPr txBox="1"/>
            <p:nvPr/>
          </p:nvSpPr>
          <p:spPr>
            <a:xfrm>
              <a:off x="755904" y="1143000"/>
              <a:ext cx="3052862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Company Trademark Registration Certificate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04" name="Freeform 6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58" name="trademark-body"/>
          <p:cNvGrpSpPr/>
          <p:nvPr/>
        </p:nvGrpSpPr>
        <p:grpSpPr>
          <a:xfrm>
            <a:off x="751332" y="1917700"/>
            <a:ext cx="7249668" cy="3867150"/>
            <a:chOff x="751332" y="1917700"/>
            <a:chExt cx="7249668" cy="3867150"/>
          </a:xfrm>
        </p:grpSpPr>
        <p:sp>
          <p:nvSpPr>
            <p:cNvPr id="1048605" name="TextBox 8"/>
            <p:cNvSpPr txBox="1"/>
            <p:nvPr/>
          </p:nvSpPr>
          <p:spPr>
            <a:xfrm>
              <a:off x="751332" y="1917700"/>
              <a:ext cx="24281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贝之然 / BEST LAND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06" name="TextBox 9"/>
            <p:cNvSpPr txBox="1"/>
            <p:nvPr/>
          </p:nvSpPr>
          <p:spPr>
            <a:xfrm>
              <a:off x="754380" y="2298700"/>
              <a:ext cx="55245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品牌商标已完成国家注册，注册主体为东莞市贝歌科技有限公司。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「贝之然」既是中文品牌名，也是外墙定制服务的对外统一标识。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07" name="Freeform 10"/>
            <p:cNvSpPr/>
            <p:nvPr/>
          </p:nvSpPr>
          <p:spPr>
            <a:xfrm>
              <a:off x="762000" y="314325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8608" name="TextBox 11"/>
            <p:cNvSpPr txBox="1"/>
            <p:nvPr/>
          </p:nvSpPr>
          <p:spPr>
            <a:xfrm>
              <a:off x="755904" y="3429000"/>
              <a:ext cx="6096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证书原件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09" name="TextBox 12"/>
            <p:cNvSpPr txBox="1"/>
            <p:nvPr/>
          </p:nvSpPr>
          <p:spPr>
            <a:xfrm>
              <a:off x="754380" y="3638550"/>
              <a:ext cx="5158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右侧为公司商标注册证原件扫描件，完整呈现注册号、类别与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核定使用商品范围，可放大核对。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10" name="Freeform 13"/>
            <p:cNvSpPr/>
            <p:nvPr/>
          </p:nvSpPr>
          <p:spPr>
            <a:xfrm>
              <a:off x="762000" y="44767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8611" name="TextBox 14"/>
            <p:cNvSpPr txBox="1"/>
            <p:nvPr/>
          </p:nvSpPr>
          <p:spPr>
            <a:xfrm>
              <a:off x="1022604" y="4381500"/>
              <a:ext cx="22860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使用范围：内外墙涂料及配套材料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12" name="TextBox 15"/>
            <p:cNvSpPr txBox="1"/>
            <p:nvPr/>
          </p:nvSpPr>
          <p:spPr>
            <a:xfrm>
              <a:off x="754380" y="4965700"/>
              <a:ext cx="76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品牌口号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13" name="TextBox 16"/>
            <p:cNvSpPr txBox="1"/>
            <p:nvPr/>
          </p:nvSpPr>
          <p:spPr>
            <a:xfrm>
              <a:off x="752856" y="5289550"/>
              <a:ext cx="2057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一次接触　永不分离</a:t>
              </a:r>
              <a:endParaRPr lang="zh-CN" sz="18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14" name="TextBox 17"/>
            <p:cNvSpPr txBox="1"/>
            <p:nvPr/>
          </p:nvSpPr>
          <p:spPr>
            <a:xfrm>
              <a:off x="756666" y="5645150"/>
              <a:ext cx="2559943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05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ONCE CONTACT, NEVER SEPERATE</a:t>
              </a:r>
              <a:endParaRPr lang="en-US" sz="1050" spc="1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9" name="trademark-cert"/>
          <p:cNvGrpSpPr/>
          <p:nvPr/>
        </p:nvGrpSpPr>
        <p:grpSpPr>
          <a:xfrm>
            <a:off x="8433054" y="1714500"/>
            <a:ext cx="2711196" cy="4368800"/>
            <a:chOff x="8433054" y="1714500"/>
            <a:chExt cx="2711196" cy="4368800"/>
          </a:xfrm>
        </p:grpSpPr>
        <p:pic>
          <p:nvPicPr>
            <p:cNvPr id="2097154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39150" y="1714500"/>
              <a:ext cx="2705100" cy="4095750"/>
            </a:xfrm>
            <a:prstGeom prst="rect">
              <a:avLst/>
            </a:prstGeom>
          </p:spPr>
        </p:pic>
        <p:sp>
          <p:nvSpPr>
            <p:cNvPr id="1048615" name="TextBox 20"/>
            <p:cNvSpPr txBox="1"/>
            <p:nvPr/>
          </p:nvSpPr>
          <p:spPr>
            <a:xfrm>
              <a:off x="8433054" y="5905500"/>
              <a:ext cx="1066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公司商标注册证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616" name="Rectangle 22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617" name="TextBox 23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18" name="TextBox 24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621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4" name="page-title"/>
          <p:cNvGrpSpPr/>
          <p:nvPr/>
        </p:nvGrpSpPr>
        <p:grpSpPr>
          <a:xfrm>
            <a:off x="746760" y="622300"/>
            <a:ext cx="1785557" cy="892175"/>
            <a:chOff x="746760" y="622300"/>
            <a:chExt cx="1785557" cy="892175"/>
          </a:xfrm>
        </p:grpSpPr>
        <p:sp>
          <p:nvSpPr>
            <p:cNvPr id="1048622" name="TextBox 4"/>
            <p:cNvSpPr txBox="1"/>
            <p:nvPr/>
          </p:nvSpPr>
          <p:spPr>
            <a:xfrm>
              <a:off x="746760" y="622300"/>
              <a:ext cx="1524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品牌标识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23" name="TextBox 5"/>
            <p:cNvSpPr txBox="1"/>
            <p:nvPr/>
          </p:nvSpPr>
          <p:spPr>
            <a:xfrm>
              <a:off x="755904" y="1143000"/>
              <a:ext cx="1776413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BEST LAND Brand Identity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24" name="Freeform 6"/>
            <p:cNvSpPr/>
            <p:nvPr/>
          </p:nvSpPr>
          <p:spPr>
            <a:xfrm>
              <a:off x="762000" y="15049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65" name="logo-body"/>
          <p:cNvGrpSpPr/>
          <p:nvPr/>
        </p:nvGrpSpPr>
        <p:grpSpPr>
          <a:xfrm>
            <a:off x="751332" y="1993900"/>
            <a:ext cx="6487668" cy="3879850"/>
            <a:chOff x="751332" y="1993900"/>
            <a:chExt cx="6487668" cy="3879850"/>
          </a:xfrm>
        </p:grpSpPr>
        <p:sp>
          <p:nvSpPr>
            <p:cNvPr id="1048625" name="TextBox 8"/>
            <p:cNvSpPr txBox="1"/>
            <p:nvPr/>
          </p:nvSpPr>
          <p:spPr>
            <a:xfrm>
              <a:off x="751332" y="1993900"/>
              <a:ext cx="22503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贝之然 BEST LAND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26" name="TextBox 9"/>
            <p:cNvSpPr txBox="1"/>
            <p:nvPr/>
          </p:nvSpPr>
          <p:spPr>
            <a:xfrm>
              <a:off x="754380" y="2374900"/>
              <a:ext cx="4572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羽形标识由三色弧线组成，与「贝之然」中文标准字、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「BEST LAND」英文标准字固定组合使用。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27" name="Freeform 10"/>
            <p:cNvSpPr/>
            <p:nvPr/>
          </p:nvSpPr>
          <p:spPr>
            <a:xfrm>
              <a:off x="762000" y="333375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8628" name="TextBox 11"/>
            <p:cNvSpPr txBox="1"/>
            <p:nvPr/>
          </p:nvSpPr>
          <p:spPr>
            <a:xfrm>
              <a:off x="755904" y="3657600"/>
              <a:ext cx="6096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品牌定位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29" name="TextBox 12"/>
            <p:cNvSpPr txBox="1"/>
            <p:nvPr/>
          </p:nvSpPr>
          <p:spPr>
            <a:xfrm>
              <a:off x="752856" y="3975100"/>
              <a:ext cx="16002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外墙定制服务商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30" name="TextBox 13"/>
            <p:cNvSpPr txBox="1"/>
            <p:nvPr/>
          </p:nvSpPr>
          <p:spPr>
            <a:xfrm>
              <a:off x="755904" y="4610100"/>
              <a:ext cx="6096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品牌口号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31" name="TextBox 14"/>
            <p:cNvSpPr txBox="1"/>
            <p:nvPr/>
          </p:nvSpPr>
          <p:spPr>
            <a:xfrm>
              <a:off x="752856" y="4927600"/>
              <a:ext cx="2057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一次接触　永不分离</a:t>
              </a:r>
              <a:endParaRPr lang="zh-CN" sz="18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32" name="TextBox 15"/>
            <p:cNvSpPr txBox="1"/>
            <p:nvPr/>
          </p:nvSpPr>
          <p:spPr>
            <a:xfrm>
              <a:off x="756666" y="5283200"/>
              <a:ext cx="2559943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05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ONCE CONTACT, NEVER SEPERATE</a:t>
              </a:r>
              <a:endParaRPr lang="en-US" sz="1050" spc="1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33" name="TextBox 16"/>
            <p:cNvSpPr txBox="1"/>
            <p:nvPr/>
          </p:nvSpPr>
          <p:spPr>
            <a:xfrm>
              <a:off x="755904" y="5695950"/>
              <a:ext cx="4876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使用规范：标识与标准字不得拉伸、变形或改色；深色底使用反白版本。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634" name="Rectangle 21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635" name="TextBox 22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36" name="TextBox 23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097156" name="图片 24" descr="不锈钢纳米技术研究院铭牌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225" y="1064260"/>
            <a:ext cx="4646295" cy="45478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639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70" name="adv-title"/>
          <p:cNvGrpSpPr/>
          <p:nvPr/>
        </p:nvGrpSpPr>
        <p:grpSpPr>
          <a:xfrm>
            <a:off x="670560" y="698500"/>
            <a:ext cx="2286000" cy="873125"/>
            <a:chOff x="670560" y="698500"/>
            <a:chExt cx="2286000" cy="873125"/>
          </a:xfrm>
        </p:grpSpPr>
        <p:sp>
          <p:nvSpPr>
            <p:cNvPr id="1048640" name="TextBox 4"/>
            <p:cNvSpPr txBox="1"/>
            <p:nvPr/>
          </p:nvSpPr>
          <p:spPr>
            <a:xfrm>
              <a:off x="670560" y="698500"/>
              <a:ext cx="2286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产品六大优势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41" name="TextBox 5"/>
            <p:cNvSpPr txBox="1"/>
            <p:nvPr/>
          </p:nvSpPr>
          <p:spPr>
            <a:xfrm>
              <a:off x="679704" y="1238250"/>
              <a:ext cx="222126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BEST LAND Product advantages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42" name="Freeform 6"/>
            <p:cNvSpPr/>
            <p:nvPr/>
          </p:nvSpPr>
          <p:spPr>
            <a:xfrm>
              <a:off x="685800" y="15621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71" name="adv-list"/>
          <p:cNvGrpSpPr/>
          <p:nvPr/>
        </p:nvGrpSpPr>
        <p:grpSpPr>
          <a:xfrm>
            <a:off x="675132" y="1784350"/>
            <a:ext cx="4081191" cy="4114800"/>
            <a:chOff x="675132" y="1784350"/>
            <a:chExt cx="4081191" cy="4114800"/>
          </a:xfrm>
        </p:grpSpPr>
        <p:sp>
          <p:nvSpPr>
            <p:cNvPr id="1048643" name="TextBox 8"/>
            <p:cNvSpPr txBox="1"/>
            <p:nvPr/>
          </p:nvSpPr>
          <p:spPr>
            <a:xfrm>
              <a:off x="675132" y="17843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44" name="TextBox 9"/>
            <p:cNvSpPr txBox="1"/>
            <p:nvPr/>
          </p:nvSpPr>
          <p:spPr>
            <a:xfrm>
              <a:off x="1173480" y="1841500"/>
              <a:ext cx="20955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环保零污染，天然无气味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45" name="TextBox 10"/>
            <p:cNvSpPr txBox="1"/>
            <p:nvPr/>
          </p:nvSpPr>
          <p:spPr>
            <a:xfrm>
              <a:off x="1175766" y="2139950"/>
              <a:ext cx="3580557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国家建材检测中心未检出 VOC、甲醛、苯系物；食品级安全标准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46" name="TextBox 11"/>
            <p:cNvSpPr txBox="1"/>
            <p:nvPr/>
          </p:nvSpPr>
          <p:spPr>
            <a:xfrm>
              <a:off x="675132" y="2508250"/>
              <a:ext cx="304800" cy="304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47" name="TextBox 12"/>
            <p:cNvSpPr txBox="1"/>
            <p:nvPr/>
          </p:nvSpPr>
          <p:spPr>
            <a:xfrm>
              <a:off x="1173480" y="2565400"/>
              <a:ext cx="1333500" cy="2286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耐洗耐刷像陶瓷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48" name="TextBox 13"/>
            <p:cNvSpPr txBox="1"/>
            <p:nvPr/>
          </p:nvSpPr>
          <p:spPr>
            <a:xfrm>
              <a:off x="1175766" y="2863850"/>
              <a:ext cx="21717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耐擦洗 ≥10,000 次，泡水 168 h 无软化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49" name="TextBox 14"/>
            <p:cNvSpPr txBox="1"/>
            <p:nvPr/>
          </p:nvSpPr>
          <p:spPr>
            <a:xfrm>
              <a:off x="675132" y="3232150"/>
              <a:ext cx="304800" cy="304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50" name="TextBox 15"/>
            <p:cNvSpPr txBox="1"/>
            <p:nvPr/>
          </p:nvSpPr>
          <p:spPr>
            <a:xfrm>
              <a:off x="1173480" y="3289300"/>
              <a:ext cx="850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 级防火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51" name="TextBox 16"/>
            <p:cNvSpPr txBox="1"/>
            <p:nvPr/>
          </p:nvSpPr>
          <p:spPr>
            <a:xfrm>
              <a:off x="1175766" y="3587750"/>
              <a:ext cx="17780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最高不燃等级，高温无有毒烟气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52" name="TextBox 17"/>
            <p:cNvSpPr txBox="1"/>
            <p:nvPr/>
          </p:nvSpPr>
          <p:spPr>
            <a:xfrm>
              <a:off x="675132" y="3956050"/>
              <a:ext cx="304800" cy="304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53" name="TextBox 18"/>
            <p:cNvSpPr txBox="1"/>
            <p:nvPr/>
          </p:nvSpPr>
          <p:spPr>
            <a:xfrm>
              <a:off x="1173480" y="4013200"/>
              <a:ext cx="9525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外墙耐老化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54" name="TextBox 19"/>
            <p:cNvSpPr txBox="1"/>
            <p:nvPr/>
          </p:nvSpPr>
          <p:spPr>
            <a:xfrm>
              <a:off x="1175766" y="4311650"/>
              <a:ext cx="2882901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人工老化 3,000 h，理论寿命 ≥50 年，与楼房同寿命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55" name="TextBox 20"/>
            <p:cNvSpPr txBox="1"/>
            <p:nvPr/>
          </p:nvSpPr>
          <p:spPr>
            <a:xfrm>
              <a:off x="675132" y="4679950"/>
              <a:ext cx="304800" cy="304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56" name="TextBox 21"/>
            <p:cNvSpPr txBox="1"/>
            <p:nvPr/>
          </p:nvSpPr>
          <p:spPr>
            <a:xfrm>
              <a:off x="1173480" y="4737100"/>
              <a:ext cx="17145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施工简单，性价比高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57" name="TextBox 22"/>
            <p:cNvSpPr txBox="1"/>
            <p:nvPr/>
          </p:nvSpPr>
          <p:spPr>
            <a:xfrm>
              <a:off x="1175766" y="5035550"/>
              <a:ext cx="29337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免腻子、免底漆，两遍喷涂成型，综合成本减少 30%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58" name="TextBox 23"/>
            <p:cNvSpPr txBox="1"/>
            <p:nvPr/>
          </p:nvSpPr>
          <p:spPr>
            <a:xfrm>
              <a:off x="675132" y="5403850"/>
              <a:ext cx="304800" cy="304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59" name="TextBox 24"/>
            <p:cNvSpPr txBox="1"/>
            <p:nvPr/>
          </p:nvSpPr>
          <p:spPr>
            <a:xfrm>
              <a:off x="1173480" y="5461000"/>
              <a:ext cx="15240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直接材料成本更低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60" name="TextBox 25"/>
            <p:cNvSpPr txBox="1"/>
            <p:nvPr/>
          </p:nvSpPr>
          <p:spPr>
            <a:xfrm>
              <a:off x="1175766" y="5759450"/>
              <a:ext cx="236220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比真石漆、仿石漆省 1/3，比水包砂省 1/2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661" name="Rectangle 3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662" name="TextBox 31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63" name="TextBox 32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3" name="material-photo"/>
          <p:cNvGrpSpPr/>
          <p:nvPr/>
        </p:nvGrpSpPr>
        <p:grpSpPr>
          <a:xfrm>
            <a:off x="7080885" y="833755"/>
            <a:ext cx="4311015" cy="5319493"/>
            <a:chOff x="7900416" y="1714500"/>
            <a:chExt cx="3339084" cy="4505406"/>
          </a:xfrm>
        </p:grpSpPr>
        <p:pic>
          <p:nvPicPr>
            <p:cNvPr id="2097158" name="Image 18"/>
            <p:cNvPicPr>
              <a:picLocks noChangeAspect="1"/>
            </p:cNvPicPr>
            <p:nvPr/>
          </p:nvPicPr>
          <p:blipFill>
            <a:blip r:embed="rId2"/>
            <a:srcRect t="1687" b="1687"/>
            <a:stretch>
              <a:fillRect/>
            </a:stretch>
          </p:blipFill>
          <p:spPr>
            <a:xfrm>
              <a:off x="7905750" y="1714500"/>
              <a:ext cx="3333750" cy="4286250"/>
            </a:xfrm>
            <a:prstGeom prst="rect">
              <a:avLst/>
            </a:prstGeom>
          </p:spPr>
        </p:pic>
        <p:sp>
          <p:nvSpPr>
            <p:cNvPr id="1048664" name="Freeform 19"/>
            <p:cNvSpPr/>
            <p:nvPr/>
          </p:nvSpPr>
          <p:spPr>
            <a:xfrm>
              <a:off x="7905750" y="1714500"/>
              <a:ext cx="3333750" cy="4286250"/>
            </a:xfrm>
            <a:custGeom>
              <a:avLst/>
              <a:gdLst/>
              <a:ahLst/>
              <a:cxnLst/>
              <a:rect l="l" t="t" r="r" b="b"/>
              <a:pathLst>
                <a:path w="3333750" h="4286250">
                  <a:moveTo>
                    <a:pt x="0" y="0"/>
                  </a:moveTo>
                  <a:lnTo>
                    <a:pt x="3333750" y="0"/>
                  </a:lnTo>
                  <a:lnTo>
                    <a:pt x="3333750" y="4286250"/>
                  </a:lnTo>
                  <a:lnTo>
                    <a:pt x="0" y="4286250"/>
                  </a:lnTo>
                  <a:close/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48665" name="TextBox 20"/>
            <p:cNvSpPr txBox="1"/>
            <p:nvPr/>
          </p:nvSpPr>
          <p:spPr>
            <a:xfrm>
              <a:off x="7900416" y="6083300"/>
              <a:ext cx="1000125" cy="1366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原料与生产工艺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8" name="图片 23" descr="打印_page-00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270" y="1377950"/>
            <a:ext cx="3902075" cy="5517515"/>
          </a:xfrm>
          <a:prstGeom prst="rect">
            <a:avLst/>
          </a:prstGeom>
        </p:spPr>
      </p:pic>
      <p:pic>
        <p:nvPicPr>
          <p:cNvPr id="2097169" name="brand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727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96" name="page-title"/>
          <p:cNvGrpSpPr/>
          <p:nvPr/>
        </p:nvGrpSpPr>
        <p:grpSpPr>
          <a:xfrm>
            <a:off x="746760" y="622300"/>
            <a:ext cx="2491740" cy="892175"/>
            <a:chOff x="746760" y="622300"/>
            <a:chExt cx="2491740" cy="892175"/>
          </a:xfrm>
        </p:grpSpPr>
        <p:sp>
          <p:nvSpPr>
            <p:cNvPr id="1048728" name="TextBox 4"/>
            <p:cNvSpPr txBox="1"/>
            <p:nvPr/>
          </p:nvSpPr>
          <p:spPr>
            <a:xfrm>
              <a:off x="746760" y="622300"/>
              <a:ext cx="228600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发明专利证书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29" name="TextBox 5"/>
            <p:cNvSpPr txBox="1"/>
            <p:nvPr/>
          </p:nvSpPr>
          <p:spPr>
            <a:xfrm>
              <a:off x="755904" y="1143000"/>
              <a:ext cx="1868786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Invention Patent Certificate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30" name="Freeform 6"/>
            <p:cNvSpPr/>
            <p:nvPr/>
          </p:nvSpPr>
          <p:spPr>
            <a:xfrm>
              <a:off x="762000" y="15049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pic>
        <p:nvPicPr>
          <p:cNvPr id="2097170" name="图片 24" descr="打印_page-00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835" y="1377950"/>
            <a:ext cx="3985260" cy="5636895"/>
          </a:xfrm>
          <a:prstGeom prst="rect">
            <a:avLst/>
          </a:prstGeom>
        </p:spPr>
      </p:pic>
      <p:pic>
        <p:nvPicPr>
          <p:cNvPr id="2097171" name="图片 25" descr="打印_page-00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610" y="1377950"/>
            <a:ext cx="3763645" cy="5323205"/>
          </a:xfrm>
          <a:prstGeom prst="rect">
            <a:avLst/>
          </a:prstGeom>
        </p:spPr>
      </p:pic>
      <p:pic>
        <p:nvPicPr>
          <p:cNvPr id="2097172" name="图片 26" descr="打印_page-00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620" y="1514475"/>
            <a:ext cx="3910330" cy="5532120"/>
          </a:xfrm>
          <a:prstGeom prst="rect">
            <a:avLst/>
          </a:prstGeom>
        </p:spPr>
      </p:pic>
      <p:pic>
        <p:nvPicPr>
          <p:cNvPr id="2097173" name="图片 27" descr="打印_page-00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2365" y="1504950"/>
            <a:ext cx="3806190" cy="5382260"/>
          </a:xfrm>
          <a:prstGeom prst="rect">
            <a:avLst/>
          </a:prstGeom>
        </p:spPr>
      </p:pic>
      <p:pic>
        <p:nvPicPr>
          <p:cNvPr id="2097174" name="图片 28" descr="打印_page-00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3665" y="1514475"/>
            <a:ext cx="3697605" cy="5229860"/>
          </a:xfrm>
          <a:prstGeom prst="rect">
            <a:avLst/>
          </a:prstGeom>
        </p:spPr>
      </p:pic>
      <p:pic>
        <p:nvPicPr>
          <p:cNvPr id="2097175" name="图片 29" descr="打印_page-00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4630" y="1383030"/>
            <a:ext cx="3789680" cy="5361305"/>
          </a:xfrm>
          <a:prstGeom prst="rect">
            <a:avLst/>
          </a:prstGeom>
        </p:spPr>
      </p:pic>
      <p:grpSp>
        <p:nvGrpSpPr>
          <p:cNvPr id="97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731" name="Rectangle 2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732" name="TextBox 21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33" name="TextBox 22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709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90" name="page-title"/>
          <p:cNvGrpSpPr/>
          <p:nvPr/>
        </p:nvGrpSpPr>
        <p:grpSpPr>
          <a:xfrm>
            <a:off x="746760" y="622300"/>
            <a:ext cx="3590379" cy="892175"/>
            <a:chOff x="746760" y="622300"/>
            <a:chExt cx="3590379" cy="892175"/>
          </a:xfrm>
        </p:grpSpPr>
        <p:sp>
          <p:nvSpPr>
            <p:cNvPr id="1048710" name="TextBox 4"/>
            <p:cNvSpPr txBox="1"/>
            <p:nvPr/>
          </p:nvSpPr>
          <p:spPr>
            <a:xfrm>
              <a:off x="746760" y="622300"/>
              <a:ext cx="3590379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纯无机核心材料 25kg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11" name="TextBox 5"/>
            <p:cNvSpPr txBox="1"/>
            <p:nvPr/>
          </p:nvSpPr>
          <p:spPr>
            <a:xfrm>
              <a:off x="755904" y="1143000"/>
              <a:ext cx="1951484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Pure Inorganic Core Material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12" name="Freeform 6"/>
            <p:cNvSpPr/>
            <p:nvPr/>
          </p:nvSpPr>
          <p:spPr>
            <a:xfrm>
              <a:off x="762000" y="15049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91" name="core-specs"/>
          <p:cNvGrpSpPr/>
          <p:nvPr/>
        </p:nvGrpSpPr>
        <p:grpSpPr>
          <a:xfrm>
            <a:off x="751332" y="2012950"/>
            <a:ext cx="6487668" cy="3327400"/>
            <a:chOff x="751332" y="2012950"/>
            <a:chExt cx="6487668" cy="3327400"/>
          </a:xfrm>
        </p:grpSpPr>
        <p:sp>
          <p:nvSpPr>
            <p:cNvPr id="1048713" name="TextBox 8"/>
            <p:cNvSpPr txBox="1"/>
            <p:nvPr/>
          </p:nvSpPr>
          <p:spPr>
            <a:xfrm>
              <a:off x="751332" y="2012950"/>
              <a:ext cx="1866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纯无机核心材料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14" name="TextBox 9"/>
            <p:cNvSpPr txBox="1"/>
            <p:nvPr/>
          </p:nvSpPr>
          <p:spPr>
            <a:xfrm>
              <a:off x="754380" y="2457450"/>
              <a:ext cx="2420343" cy="2286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Pure Inorganic Core Material</a:t>
              </a:r>
              <a:endParaRPr lang="en-US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15" name="Freeform 10"/>
            <p:cNvSpPr/>
            <p:nvPr/>
          </p:nvSpPr>
          <p:spPr>
            <a:xfrm>
              <a:off x="762000" y="300990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8716" name="TextBox 11"/>
            <p:cNvSpPr txBox="1"/>
            <p:nvPr/>
          </p:nvSpPr>
          <p:spPr>
            <a:xfrm>
              <a:off x="755904" y="3295650"/>
              <a:ext cx="609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包装规格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17" name="TextBox 12"/>
            <p:cNvSpPr txBox="1"/>
            <p:nvPr/>
          </p:nvSpPr>
          <p:spPr>
            <a:xfrm>
              <a:off x="754380" y="3613150"/>
              <a:ext cx="10141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25 kg / 包装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18" name="TextBox 13"/>
            <p:cNvSpPr txBox="1"/>
            <p:nvPr/>
          </p:nvSpPr>
          <p:spPr>
            <a:xfrm>
              <a:off x="755904" y="4133850"/>
              <a:ext cx="3048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定位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19" name="TextBox 14"/>
            <p:cNvSpPr txBox="1"/>
            <p:nvPr/>
          </p:nvSpPr>
          <p:spPr>
            <a:xfrm>
              <a:off x="754380" y="4400550"/>
              <a:ext cx="4000500" cy="6153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纯无机体系的核心材料，与无机底固配套使用，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构成内外墙的完整无机涂装体系。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20" name="Freeform 15"/>
            <p:cNvSpPr/>
            <p:nvPr/>
          </p:nvSpPr>
          <p:spPr>
            <a:xfrm>
              <a:off x="762000" y="52578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8721" name="TextBox 16"/>
            <p:cNvSpPr txBox="1"/>
            <p:nvPr/>
          </p:nvSpPr>
          <p:spPr>
            <a:xfrm>
              <a:off x="1022604" y="5162550"/>
              <a:ext cx="13335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天然环保 · 随刷随住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722" name="Rectangle 22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723" name="TextBox 23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24" name="TextBox 24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097167" name="图片 26" descr="贝歌钙晶瓷涂料包装展示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377950"/>
            <a:ext cx="6346190" cy="3931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1" name="图片 24" descr="贝歌无机涂料涂料A1级不燃性检测报告_上海华慧检测技术有限公司2022070388_page-00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0" y="692785"/>
            <a:ext cx="5046345" cy="7138035"/>
          </a:xfrm>
          <a:prstGeom prst="rect">
            <a:avLst/>
          </a:prstGeom>
        </p:spPr>
      </p:pic>
      <p:pic>
        <p:nvPicPr>
          <p:cNvPr id="2097182" name="图片 23" descr="贝歌无机涂料环保性能与耐久性能综合检测报告_深圳市计量质量检测研究院WT20103221065631WT1_page-00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430" y="494030"/>
            <a:ext cx="4792980" cy="6774180"/>
          </a:xfrm>
          <a:prstGeom prst="rect">
            <a:avLst/>
          </a:prstGeom>
        </p:spPr>
      </p:pic>
      <p:pic>
        <p:nvPicPr>
          <p:cNvPr id="2097183" name="brand-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763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13" name="page-title"/>
          <p:cNvGrpSpPr/>
          <p:nvPr/>
        </p:nvGrpSpPr>
        <p:grpSpPr>
          <a:xfrm>
            <a:off x="746760" y="622300"/>
            <a:ext cx="1811552" cy="892175"/>
            <a:chOff x="746760" y="622300"/>
            <a:chExt cx="1811552" cy="892175"/>
          </a:xfrm>
        </p:grpSpPr>
        <p:sp>
          <p:nvSpPr>
            <p:cNvPr id="1048764" name="TextBox 4"/>
            <p:cNvSpPr txBox="1"/>
            <p:nvPr/>
          </p:nvSpPr>
          <p:spPr>
            <a:xfrm>
              <a:off x="746760" y="622300"/>
              <a:ext cx="1524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检测报告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65" name="TextBox 5"/>
            <p:cNvSpPr txBox="1"/>
            <p:nvPr/>
          </p:nvSpPr>
          <p:spPr>
            <a:xfrm>
              <a:off x="755904" y="1143000"/>
              <a:ext cx="1802408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Test Report　CMA / CNAS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66" name="Freeform 6"/>
            <p:cNvSpPr/>
            <p:nvPr/>
          </p:nvSpPr>
          <p:spPr>
            <a:xfrm>
              <a:off x="762000" y="15049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114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767" name="Rectangle 2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768" name="TextBox 21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69" name="TextBox 22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贝歌无机涂料环保性能与耐久性能综合检测报告_深圳市计量质量检测研究院WT20103221065631WT1_page-00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0090" y="543560"/>
            <a:ext cx="3321050" cy="4693920"/>
          </a:xfrm>
          <a:prstGeom prst="rect">
            <a:avLst/>
          </a:prstGeom>
        </p:spPr>
      </p:pic>
      <p:pic>
        <p:nvPicPr>
          <p:cNvPr id="3" name="图片 2" descr="贝歌无机涂料环保性能与耐久性能综合检测报告_深圳市计量质量检测研究院WT20103221065631WT1_page-00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1143000"/>
            <a:ext cx="3802380" cy="5375275"/>
          </a:xfrm>
          <a:prstGeom prst="rect">
            <a:avLst/>
          </a:prstGeom>
        </p:spPr>
      </p:pic>
      <p:pic>
        <p:nvPicPr>
          <p:cNvPr id="4" name="图片 3" descr="贝歌无机涂料环保性能与耐久性能综合检测报告_深圳市计量质量检测研究院WT20103221065631WT1_page-00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3535" y="1567815"/>
            <a:ext cx="3571240" cy="5048885"/>
          </a:xfrm>
          <a:prstGeom prst="rect">
            <a:avLst/>
          </a:prstGeom>
        </p:spPr>
      </p:pic>
      <p:sp>
        <p:nvSpPr>
          <p:cNvPr id="1048736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01" name="page-title"/>
          <p:cNvGrpSpPr/>
          <p:nvPr/>
        </p:nvGrpSpPr>
        <p:grpSpPr>
          <a:xfrm>
            <a:off x="746760" y="622300"/>
            <a:ext cx="1811552" cy="892175"/>
            <a:chOff x="746760" y="622300"/>
            <a:chExt cx="1811552" cy="892175"/>
          </a:xfrm>
        </p:grpSpPr>
        <p:sp>
          <p:nvSpPr>
            <p:cNvPr id="1048737" name="TextBox 4"/>
            <p:cNvSpPr txBox="1"/>
            <p:nvPr/>
          </p:nvSpPr>
          <p:spPr>
            <a:xfrm>
              <a:off x="746760" y="622300"/>
              <a:ext cx="1524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检测报告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38" name="TextBox 5"/>
            <p:cNvSpPr txBox="1"/>
            <p:nvPr/>
          </p:nvSpPr>
          <p:spPr>
            <a:xfrm>
              <a:off x="755904" y="1143000"/>
              <a:ext cx="1802408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Test Report　CMA / CNAS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39" name="Freeform 6"/>
            <p:cNvSpPr/>
            <p:nvPr/>
          </p:nvSpPr>
          <p:spPr>
            <a:xfrm>
              <a:off x="762000" y="15049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102" name="report-text"/>
          <p:cNvGrpSpPr/>
          <p:nvPr/>
        </p:nvGrpSpPr>
        <p:grpSpPr>
          <a:xfrm>
            <a:off x="752856" y="2038350"/>
            <a:ext cx="6295644" cy="3378200"/>
            <a:chOff x="752856" y="2038350"/>
            <a:chExt cx="6295644" cy="3378200"/>
          </a:xfrm>
        </p:grpSpPr>
        <p:sp>
          <p:nvSpPr>
            <p:cNvPr id="1048740" name="TextBox 8"/>
            <p:cNvSpPr txBox="1"/>
            <p:nvPr/>
          </p:nvSpPr>
          <p:spPr>
            <a:xfrm>
              <a:off x="755904" y="2038350"/>
              <a:ext cx="609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样品名称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41" name="TextBox 9"/>
            <p:cNvSpPr txBox="1"/>
            <p:nvPr/>
          </p:nvSpPr>
          <p:spPr>
            <a:xfrm>
              <a:off x="752856" y="2317750"/>
              <a:ext cx="914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无机涂料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42" name="Freeform 10"/>
            <p:cNvSpPr/>
            <p:nvPr/>
          </p:nvSpPr>
          <p:spPr>
            <a:xfrm>
              <a:off x="762000" y="291465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8743" name="TextBox 11"/>
            <p:cNvSpPr txBox="1"/>
            <p:nvPr/>
          </p:nvSpPr>
          <p:spPr>
            <a:xfrm>
              <a:off x="755904" y="3200400"/>
              <a:ext cx="609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委托单位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44" name="TextBox 12"/>
            <p:cNvSpPr txBox="1"/>
            <p:nvPr/>
          </p:nvSpPr>
          <p:spPr>
            <a:xfrm>
              <a:off x="754380" y="3517900"/>
              <a:ext cx="2095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东莞市贝歌科技有限公司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45" name="TextBox 13"/>
            <p:cNvSpPr txBox="1"/>
            <p:nvPr/>
          </p:nvSpPr>
          <p:spPr>
            <a:xfrm>
              <a:off x="755904" y="4076700"/>
              <a:ext cx="6096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检测结论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46" name="TextBox 14"/>
            <p:cNvSpPr txBox="1"/>
            <p:nvPr/>
          </p:nvSpPr>
          <p:spPr>
            <a:xfrm>
              <a:off x="754380" y="4343400"/>
              <a:ext cx="366331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未检出 VOC、甲醛、苯系物；各项指标符合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食品级安全标准与相关国家标准。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47" name="Freeform 15"/>
            <p:cNvSpPr/>
            <p:nvPr/>
          </p:nvSpPr>
          <p:spPr>
            <a:xfrm>
              <a:off x="762000" y="53340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8748" name="TextBox 16"/>
            <p:cNvSpPr txBox="1"/>
            <p:nvPr/>
          </p:nvSpPr>
          <p:spPr>
            <a:xfrm>
              <a:off x="1022604" y="5238750"/>
              <a:ext cx="2568079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报告封面原件，含 CMA 与 CNAS 标识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749" name="Rectangle 2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750" name="TextBox 21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51" name="TextBox 22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097178" name="brand-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9" name="图片 25" descr="page-00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6695" y="622300"/>
            <a:ext cx="7045960" cy="9968865"/>
          </a:xfrm>
          <a:prstGeom prst="rect">
            <a:avLst/>
          </a:prstGeom>
        </p:spPr>
      </p:pic>
      <p:pic>
        <p:nvPicPr>
          <p:cNvPr id="2097180" name="brand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754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08" name="page-title"/>
          <p:cNvGrpSpPr/>
          <p:nvPr/>
        </p:nvGrpSpPr>
        <p:grpSpPr>
          <a:xfrm>
            <a:off x="746760" y="622300"/>
            <a:ext cx="1811552" cy="892175"/>
            <a:chOff x="746760" y="622300"/>
            <a:chExt cx="1811552" cy="892175"/>
          </a:xfrm>
        </p:grpSpPr>
        <p:sp>
          <p:nvSpPr>
            <p:cNvPr id="1048755" name="TextBox 4"/>
            <p:cNvSpPr txBox="1"/>
            <p:nvPr/>
          </p:nvSpPr>
          <p:spPr>
            <a:xfrm>
              <a:off x="746760" y="622300"/>
              <a:ext cx="1524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检测报告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56" name="TextBox 5"/>
            <p:cNvSpPr txBox="1"/>
            <p:nvPr/>
          </p:nvSpPr>
          <p:spPr>
            <a:xfrm>
              <a:off x="755904" y="1143000"/>
              <a:ext cx="1802408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Test Report　CMA / CNAS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57" name="Freeform 6"/>
            <p:cNvSpPr/>
            <p:nvPr/>
          </p:nvSpPr>
          <p:spPr>
            <a:xfrm>
              <a:off x="762000" y="15049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109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758" name="Rectangle 2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759" name="TextBox 21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60" name="TextBox 22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772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18" name="page-title"/>
          <p:cNvGrpSpPr/>
          <p:nvPr/>
        </p:nvGrpSpPr>
        <p:grpSpPr>
          <a:xfrm>
            <a:off x="746760" y="622300"/>
            <a:ext cx="2242459" cy="892175"/>
            <a:chOff x="746760" y="622300"/>
            <a:chExt cx="2242459" cy="892175"/>
          </a:xfrm>
        </p:grpSpPr>
        <p:sp>
          <p:nvSpPr>
            <p:cNvPr id="1048773" name="TextBox 4"/>
            <p:cNvSpPr txBox="1"/>
            <p:nvPr/>
          </p:nvSpPr>
          <p:spPr>
            <a:xfrm>
              <a:off x="746760" y="622300"/>
              <a:ext cx="22098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ISO 三体认证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74" name="TextBox 5"/>
            <p:cNvSpPr txBox="1"/>
            <p:nvPr/>
          </p:nvSpPr>
          <p:spPr>
            <a:xfrm>
              <a:off x="755904" y="1143000"/>
              <a:ext cx="2233315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Company Triple ISO Certification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75" name="Freeform 6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119" name="iso-text"/>
          <p:cNvGrpSpPr/>
          <p:nvPr/>
        </p:nvGrpSpPr>
        <p:grpSpPr>
          <a:xfrm>
            <a:off x="752856" y="2038350"/>
            <a:ext cx="6295644" cy="3378200"/>
            <a:chOff x="752856" y="2038350"/>
            <a:chExt cx="6295644" cy="3378200"/>
          </a:xfrm>
        </p:grpSpPr>
        <p:sp>
          <p:nvSpPr>
            <p:cNvPr id="1048776" name="TextBox 8"/>
            <p:cNvSpPr txBox="1"/>
            <p:nvPr/>
          </p:nvSpPr>
          <p:spPr>
            <a:xfrm>
              <a:off x="755904" y="2038350"/>
              <a:ext cx="609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认证主体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77" name="TextBox 9"/>
            <p:cNvSpPr txBox="1"/>
            <p:nvPr/>
          </p:nvSpPr>
          <p:spPr>
            <a:xfrm>
              <a:off x="752856" y="2317750"/>
              <a:ext cx="2514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东莞市贝歌科技有限公司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78" name="Freeform 10"/>
            <p:cNvSpPr/>
            <p:nvPr/>
          </p:nvSpPr>
          <p:spPr>
            <a:xfrm>
              <a:off x="762000" y="291465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8779" name="TextBox 11"/>
            <p:cNvSpPr txBox="1"/>
            <p:nvPr/>
          </p:nvSpPr>
          <p:spPr>
            <a:xfrm>
              <a:off x="755904" y="3200400"/>
              <a:ext cx="609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认证范围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80" name="TextBox 12"/>
            <p:cNvSpPr txBox="1"/>
            <p:nvPr/>
          </p:nvSpPr>
          <p:spPr>
            <a:xfrm>
              <a:off x="754380" y="3517900"/>
              <a:ext cx="2476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无机涂料的研发、生产与销售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81" name="TextBox 13"/>
            <p:cNvSpPr txBox="1"/>
            <p:nvPr/>
          </p:nvSpPr>
          <p:spPr>
            <a:xfrm>
              <a:off x="755904" y="4076700"/>
              <a:ext cx="6096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三体认证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82" name="TextBox 14"/>
            <p:cNvSpPr txBox="1"/>
            <p:nvPr/>
          </p:nvSpPr>
          <p:spPr>
            <a:xfrm>
              <a:off x="754380" y="4343400"/>
              <a:ext cx="34442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质量、环境、职业健康安全三体系认证，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覆盖生产制造与交付全过程。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83" name="Freeform 15"/>
            <p:cNvSpPr/>
            <p:nvPr/>
          </p:nvSpPr>
          <p:spPr>
            <a:xfrm>
              <a:off x="762000" y="53340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8784" name="TextBox 16"/>
            <p:cNvSpPr txBox="1"/>
            <p:nvPr/>
          </p:nvSpPr>
          <p:spPr>
            <a:xfrm>
              <a:off x="1022604" y="5238750"/>
              <a:ext cx="24384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证书原件，可核对证书编号与有效期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0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785" name="Rectangle 2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786" name="TextBox 21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87" name="TextBox 22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18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097185" name="图片 26" descr="贝歌三体认证_page-00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155" y="217170"/>
            <a:ext cx="3673475" cy="5200015"/>
          </a:xfrm>
          <a:prstGeom prst="rect">
            <a:avLst/>
          </a:prstGeom>
        </p:spPr>
      </p:pic>
      <p:pic>
        <p:nvPicPr>
          <p:cNvPr id="2097186" name="图片 27" descr="贝歌三体认证_page-00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695" y="727710"/>
            <a:ext cx="3673475" cy="5200015"/>
          </a:xfrm>
          <a:prstGeom prst="rect">
            <a:avLst/>
          </a:prstGeom>
        </p:spPr>
      </p:pic>
      <p:pic>
        <p:nvPicPr>
          <p:cNvPr id="2097187" name="图片 28" descr="贝歌三体认证_page-00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005" y="1209040"/>
            <a:ext cx="3673475" cy="5200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687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4" name="page-title"/>
          <p:cNvGrpSpPr/>
          <p:nvPr/>
        </p:nvGrpSpPr>
        <p:grpSpPr>
          <a:xfrm>
            <a:off x="746760" y="622300"/>
            <a:ext cx="2737164" cy="892175"/>
            <a:chOff x="746760" y="622300"/>
            <a:chExt cx="2737164" cy="892175"/>
          </a:xfrm>
        </p:grpSpPr>
        <p:sp>
          <p:nvSpPr>
            <p:cNvPr id="1048688" name="TextBox 4"/>
            <p:cNvSpPr txBox="1"/>
            <p:nvPr/>
          </p:nvSpPr>
          <p:spPr>
            <a:xfrm>
              <a:off x="746760" y="622300"/>
              <a:ext cx="2286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外墙应用案例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89" name="TextBox 5"/>
            <p:cNvSpPr txBox="1"/>
            <p:nvPr/>
          </p:nvSpPr>
          <p:spPr>
            <a:xfrm>
              <a:off x="755904" y="1143000"/>
              <a:ext cx="272802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Exterior Wall Coating Application Cases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90" name="Freeform 6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85" name="case-steps"/>
          <p:cNvGrpSpPr/>
          <p:nvPr/>
        </p:nvGrpSpPr>
        <p:grpSpPr>
          <a:xfrm>
            <a:off x="6466332" y="1841500"/>
            <a:ext cx="4963668" cy="3441700"/>
            <a:chOff x="6466332" y="1841500"/>
            <a:chExt cx="4963668" cy="3441700"/>
          </a:xfrm>
        </p:grpSpPr>
        <p:sp>
          <p:nvSpPr>
            <p:cNvPr id="1048691" name="TextBox 12"/>
            <p:cNvSpPr txBox="1"/>
            <p:nvPr/>
          </p:nvSpPr>
          <p:spPr>
            <a:xfrm>
              <a:off x="6467856" y="1841500"/>
              <a:ext cx="2057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同一面墙的三个阶段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92" name="Freeform 13"/>
            <p:cNvSpPr/>
            <p:nvPr/>
          </p:nvSpPr>
          <p:spPr>
            <a:xfrm>
              <a:off x="6477000" y="22479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8693" name="TextBox 14"/>
            <p:cNvSpPr txBox="1"/>
            <p:nvPr/>
          </p:nvSpPr>
          <p:spPr>
            <a:xfrm>
              <a:off x="6466332" y="2470150"/>
              <a:ext cx="304800" cy="304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94" name="TextBox 15"/>
            <p:cNvSpPr txBox="1"/>
            <p:nvPr/>
          </p:nvSpPr>
          <p:spPr>
            <a:xfrm>
              <a:off x="6964680" y="2527300"/>
              <a:ext cx="1524001" cy="2286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原始水泥砂浆墙面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95" name="TextBox 16"/>
            <p:cNvSpPr txBox="1"/>
            <p:nvPr/>
          </p:nvSpPr>
          <p:spPr>
            <a:xfrm>
              <a:off x="6966966" y="2825750"/>
              <a:ext cx="22860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抗裂防水砂浆找平，不刮腻子、不刷底漆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96" name="TextBox 17"/>
            <p:cNvSpPr txBox="1"/>
            <p:nvPr/>
          </p:nvSpPr>
          <p:spPr>
            <a:xfrm>
              <a:off x="6466332" y="3327400"/>
              <a:ext cx="304800" cy="304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97" name="TextBox 18"/>
            <p:cNvSpPr txBox="1"/>
            <p:nvPr/>
          </p:nvSpPr>
          <p:spPr>
            <a:xfrm>
              <a:off x="6964680" y="3384550"/>
              <a:ext cx="11430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两遍喷涂施工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98" name="TextBox 19"/>
            <p:cNvSpPr txBox="1"/>
            <p:nvPr/>
          </p:nvSpPr>
          <p:spPr>
            <a:xfrm>
              <a:off x="6966966" y="3683000"/>
              <a:ext cx="16510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第一遍渗透封闭，第二遍成型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99" name="TextBox 20"/>
            <p:cNvSpPr txBox="1"/>
            <p:nvPr/>
          </p:nvSpPr>
          <p:spPr>
            <a:xfrm>
              <a:off x="6466332" y="4184650"/>
              <a:ext cx="304800" cy="304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00" name="TextBox 21"/>
            <p:cNvSpPr txBox="1"/>
            <p:nvPr/>
          </p:nvSpPr>
          <p:spPr>
            <a:xfrm>
              <a:off x="6964680" y="4241800"/>
              <a:ext cx="76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成品墙面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01" name="TextBox 22"/>
            <p:cNvSpPr txBox="1"/>
            <p:nvPr/>
          </p:nvSpPr>
          <p:spPr>
            <a:xfrm>
              <a:off x="6966966" y="4540250"/>
              <a:ext cx="16510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与墙体石化一体，越久越坚固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02" name="Freeform 23"/>
            <p:cNvSpPr/>
            <p:nvPr/>
          </p:nvSpPr>
          <p:spPr>
            <a:xfrm>
              <a:off x="6477000" y="52006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8703" name="TextBox 24"/>
            <p:cNvSpPr txBox="1"/>
            <p:nvPr/>
          </p:nvSpPr>
          <p:spPr>
            <a:xfrm>
              <a:off x="6737604" y="5105400"/>
              <a:ext cx="1981201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取代传统真石漆、仿石漆做法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704" name="Rectangle 26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705" name="TextBox 27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06" name="TextBox 28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08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097162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" y="1546860"/>
            <a:ext cx="1730375" cy="2308860"/>
          </a:xfrm>
          <a:prstGeom prst="rect">
            <a:avLst/>
          </a:prstGeom>
        </p:spPr>
      </p:pic>
      <p:pic>
        <p:nvPicPr>
          <p:cNvPr id="2097163" name="图片 30" descr="微信图片_20251204122459_1255_3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" y="4058285"/>
            <a:ext cx="1729740" cy="2308860"/>
          </a:xfrm>
          <a:prstGeom prst="rect">
            <a:avLst/>
          </a:prstGeom>
        </p:spPr>
      </p:pic>
      <p:pic>
        <p:nvPicPr>
          <p:cNvPr id="2097164" name="图片 31" descr="微信图片_20251204122448_1254_3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9230" y="1546860"/>
            <a:ext cx="1728470" cy="2308860"/>
          </a:xfrm>
          <a:prstGeom prst="rect">
            <a:avLst/>
          </a:prstGeom>
        </p:spPr>
      </p:pic>
      <p:pic>
        <p:nvPicPr>
          <p:cNvPr id="2097165" name="图片 32" descr="微信图片_20251204122506_1256_3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9230" y="4043680"/>
            <a:ext cx="1729105" cy="23069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668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>
            <a:r>
              <a:rPr lang="zh-CN" altLang="en-US"/>
              <a:t>
</a:t>
            </a:r>
            <a:endParaRPr lang="zh-CN" altLang="en-US"/>
          </a:p>
        </p:txBody>
      </p:sp>
      <p:grpSp>
        <p:nvGrpSpPr>
          <p:cNvPr id="77" name="page-title"/>
          <p:cNvGrpSpPr/>
          <p:nvPr/>
        </p:nvGrpSpPr>
        <p:grpSpPr>
          <a:xfrm>
            <a:off x="746760" y="622300"/>
            <a:ext cx="3048001" cy="892175"/>
            <a:chOff x="746760" y="622300"/>
            <a:chExt cx="3048001" cy="892175"/>
          </a:xfrm>
        </p:grpSpPr>
        <p:sp>
          <p:nvSpPr>
            <p:cNvPr id="1048669" name="TextBox 4"/>
            <p:cNvSpPr txBox="1"/>
            <p:nvPr/>
          </p:nvSpPr>
          <p:spPr>
            <a:xfrm>
              <a:off x="746760" y="622300"/>
              <a:ext cx="3048001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原始水泥砂浆墙面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70" name="TextBox 5"/>
            <p:cNvSpPr txBox="1"/>
            <p:nvPr/>
          </p:nvSpPr>
          <p:spPr>
            <a:xfrm>
              <a:off x="755904" y="1143000"/>
              <a:ext cx="2299445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Original Cement Mortar Substrate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71" name="Freeform 6"/>
            <p:cNvSpPr/>
            <p:nvPr/>
          </p:nvSpPr>
          <p:spPr>
            <a:xfrm>
              <a:off x="762000" y="15049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78" name="substrate-text"/>
          <p:cNvGrpSpPr/>
          <p:nvPr/>
        </p:nvGrpSpPr>
        <p:grpSpPr>
          <a:xfrm>
            <a:off x="752856" y="2006600"/>
            <a:ext cx="6486144" cy="3581400"/>
            <a:chOff x="752856" y="2006600"/>
            <a:chExt cx="6486144" cy="3581400"/>
          </a:xfrm>
        </p:grpSpPr>
        <p:sp>
          <p:nvSpPr>
            <p:cNvPr id="1048672" name="TextBox 8"/>
            <p:cNvSpPr txBox="1"/>
            <p:nvPr/>
          </p:nvSpPr>
          <p:spPr>
            <a:xfrm>
              <a:off x="752856" y="2006600"/>
              <a:ext cx="59618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墙面只做到抗裂防水砂浆这一层，就可以直接上无机涂料。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不需要腻子找平，也不需要底漆封闭。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73" name="Freeform 9"/>
            <p:cNvSpPr/>
            <p:nvPr/>
          </p:nvSpPr>
          <p:spPr>
            <a:xfrm>
              <a:off x="762000" y="304800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8674" name="TextBox 10"/>
            <p:cNvSpPr txBox="1"/>
            <p:nvPr/>
          </p:nvSpPr>
          <p:spPr>
            <a:xfrm>
              <a:off x="755904" y="3352800"/>
              <a:ext cx="609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基面要求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75" name="TextBox 11"/>
            <p:cNvSpPr txBox="1"/>
            <p:nvPr/>
          </p:nvSpPr>
          <p:spPr>
            <a:xfrm>
              <a:off x="754380" y="3670300"/>
              <a:ext cx="381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抗裂防水砂浆，表面平整、无浮灰、无空鼓。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76" name="TextBox 12"/>
            <p:cNvSpPr txBox="1"/>
            <p:nvPr/>
          </p:nvSpPr>
          <p:spPr>
            <a:xfrm>
              <a:off x="755904" y="4210050"/>
              <a:ext cx="13716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为什么可以省掉腻子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77" name="TextBox 13"/>
            <p:cNvSpPr txBox="1"/>
            <p:nvPr/>
          </p:nvSpPr>
          <p:spPr>
            <a:xfrm>
              <a:off x="754380" y="4476750"/>
              <a:ext cx="49682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无机涂料与水泥基面发生石化反应，直接咬合在砂浆层上；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腻子粉本身不耐老化，反而是最先失效的一层。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78" name="Freeform 14"/>
            <p:cNvSpPr/>
            <p:nvPr/>
          </p:nvSpPr>
          <p:spPr>
            <a:xfrm>
              <a:off x="762000" y="55054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8679" name="TextBox 15"/>
            <p:cNvSpPr txBox="1"/>
            <p:nvPr/>
          </p:nvSpPr>
          <p:spPr>
            <a:xfrm>
              <a:off x="1022604" y="5410200"/>
              <a:ext cx="1524001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贝之然外墙涂料应用图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9" name="substrate-photo"/>
          <p:cNvGrpSpPr/>
          <p:nvPr/>
        </p:nvGrpSpPr>
        <p:grpSpPr>
          <a:xfrm>
            <a:off x="7710170" y="1143635"/>
            <a:ext cx="3529330" cy="5075083"/>
            <a:chOff x="7709916" y="1714500"/>
            <a:chExt cx="3529584" cy="4512201"/>
          </a:xfrm>
        </p:grpSpPr>
        <p:pic>
          <p:nvPicPr>
            <p:cNvPr id="2097160" name="Image 17"/>
            <p:cNvPicPr>
              <a:picLocks noChangeAspect="1"/>
            </p:cNvPicPr>
            <p:nvPr/>
          </p:nvPicPr>
          <p:blipFill>
            <a:blip r:embed="rId2"/>
            <a:srcRect t="4397" b="4397"/>
            <a:stretch>
              <a:fillRect/>
            </a:stretch>
          </p:blipFill>
          <p:spPr>
            <a:xfrm>
              <a:off x="7715250" y="1714500"/>
              <a:ext cx="3524250" cy="4286250"/>
            </a:xfrm>
            <a:prstGeom prst="rect">
              <a:avLst/>
            </a:prstGeom>
          </p:spPr>
        </p:pic>
        <p:sp>
          <p:nvSpPr>
            <p:cNvPr id="1048680" name="Freeform 18"/>
            <p:cNvSpPr/>
            <p:nvPr/>
          </p:nvSpPr>
          <p:spPr>
            <a:xfrm>
              <a:off x="7715250" y="1714500"/>
              <a:ext cx="3524250" cy="4286250"/>
            </a:xfrm>
            <a:custGeom>
              <a:avLst/>
              <a:gdLst/>
              <a:ahLst/>
              <a:cxnLst/>
              <a:rect l="l" t="t" r="r" b="b"/>
              <a:pathLst>
                <a:path w="3524250" h="4286250">
                  <a:moveTo>
                    <a:pt x="0" y="0"/>
                  </a:moveTo>
                  <a:lnTo>
                    <a:pt x="3524250" y="0"/>
                  </a:lnTo>
                  <a:lnTo>
                    <a:pt x="3524250" y="4286250"/>
                  </a:lnTo>
                  <a:lnTo>
                    <a:pt x="0" y="4286250"/>
                  </a:lnTo>
                  <a:close/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48681" name="TextBox 19"/>
            <p:cNvSpPr txBox="1"/>
            <p:nvPr/>
          </p:nvSpPr>
          <p:spPr>
            <a:xfrm>
              <a:off x="7709916" y="6083300"/>
              <a:ext cx="1141476" cy="1434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原始水泥砂浆墙面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682" name="Rectangle 21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683" name="TextBox 22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684" name="TextBox 23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09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8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790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24" name="case-title"/>
          <p:cNvGrpSpPr/>
          <p:nvPr/>
        </p:nvGrpSpPr>
        <p:grpSpPr>
          <a:xfrm>
            <a:off x="670560" y="698500"/>
            <a:ext cx="4470400" cy="873125"/>
            <a:chOff x="670560" y="698500"/>
            <a:chExt cx="4470400" cy="873125"/>
          </a:xfrm>
        </p:grpSpPr>
        <p:sp>
          <p:nvSpPr>
            <p:cNvPr id="1048791" name="TextBox 4"/>
            <p:cNvSpPr txBox="1"/>
            <p:nvPr/>
          </p:nvSpPr>
          <p:spPr>
            <a:xfrm>
              <a:off x="670560" y="698500"/>
              <a:ext cx="44704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外墙应用案例 · 肇庆与梅州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92" name="TextBox 5"/>
            <p:cNvSpPr txBox="1"/>
            <p:nvPr/>
          </p:nvSpPr>
          <p:spPr>
            <a:xfrm>
              <a:off x="679704" y="1238250"/>
              <a:ext cx="272802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Exterior Wall Coating Application Cases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93" name="Freeform 6"/>
            <p:cNvSpPr/>
            <p:nvPr/>
          </p:nvSpPr>
          <p:spPr>
            <a:xfrm>
              <a:off x="685800" y="1562100"/>
              <a:ext cx="2743200" cy="9525"/>
            </a:xfrm>
            <a:custGeom>
              <a:avLst/>
              <a:gdLst/>
              <a:ahLst/>
              <a:cxnLst/>
              <a:rect l="l" t="t" r="r" b="b"/>
              <a:pathLst>
                <a:path w="2743200" h="9525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125" name="case-photo"/>
          <p:cNvGrpSpPr/>
          <p:nvPr/>
        </p:nvGrpSpPr>
        <p:grpSpPr>
          <a:xfrm>
            <a:off x="679704" y="1809750"/>
            <a:ext cx="5149596" cy="4311650"/>
            <a:chOff x="679704" y="1809750"/>
            <a:chExt cx="5149596" cy="4311650"/>
          </a:xfrm>
        </p:grpSpPr>
        <p:pic>
          <p:nvPicPr>
            <p:cNvPr id="2097189" name="Image 8"/>
            <p:cNvPicPr>
              <a:picLocks noChangeAspect="1"/>
            </p:cNvPicPr>
            <p:nvPr/>
          </p:nvPicPr>
          <p:blipFill>
            <a:blip r:embed="rId2"/>
            <a:srcRect t="15770" b="15771"/>
            <a:stretch>
              <a:fillRect/>
            </a:stretch>
          </p:blipFill>
          <p:spPr>
            <a:xfrm>
              <a:off x="685800" y="1809750"/>
              <a:ext cx="5143500" cy="4000500"/>
            </a:xfrm>
            <a:prstGeom prst="rect">
              <a:avLst/>
            </a:prstGeom>
          </p:spPr>
        </p:pic>
        <p:sp>
          <p:nvSpPr>
            <p:cNvPr id="1048794" name="Freeform 9"/>
            <p:cNvSpPr/>
            <p:nvPr/>
          </p:nvSpPr>
          <p:spPr>
            <a:xfrm>
              <a:off x="685800" y="1809750"/>
              <a:ext cx="5143500" cy="4000500"/>
            </a:xfrm>
            <a:custGeom>
              <a:avLst/>
              <a:gdLst/>
              <a:ahLst/>
              <a:cxnLst/>
              <a:rect l="l" t="t" r="r" b="b"/>
              <a:pathLst>
                <a:path w="5143500" h="4000500">
                  <a:moveTo>
                    <a:pt x="0" y="0"/>
                  </a:moveTo>
                  <a:lnTo>
                    <a:pt x="5143500" y="0"/>
                  </a:lnTo>
                  <a:lnTo>
                    <a:pt x="5143500" y="4000500"/>
                  </a:lnTo>
                  <a:lnTo>
                    <a:pt x="0" y="4000500"/>
                  </a:lnTo>
                  <a:close/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48795" name="TextBox 10"/>
            <p:cNvSpPr txBox="1"/>
            <p:nvPr/>
          </p:nvSpPr>
          <p:spPr>
            <a:xfrm>
              <a:off x="679704" y="5943600"/>
              <a:ext cx="3048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广东省肇庆市端州区城西街道办波海蓝湾会所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6" name="case-notes"/>
          <p:cNvGrpSpPr/>
          <p:nvPr/>
        </p:nvGrpSpPr>
        <p:grpSpPr>
          <a:xfrm>
            <a:off x="6466332" y="1841500"/>
            <a:ext cx="4963668" cy="3384550"/>
            <a:chOff x="6466332" y="1841500"/>
            <a:chExt cx="4963668" cy="3384550"/>
          </a:xfrm>
        </p:grpSpPr>
        <p:sp>
          <p:nvSpPr>
            <p:cNvPr id="1048796" name="TextBox 12"/>
            <p:cNvSpPr txBox="1"/>
            <p:nvPr/>
          </p:nvSpPr>
          <p:spPr>
            <a:xfrm>
              <a:off x="6466332" y="1841500"/>
              <a:ext cx="1600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两个真实项目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97" name="Freeform 13"/>
            <p:cNvSpPr/>
            <p:nvPr/>
          </p:nvSpPr>
          <p:spPr>
            <a:xfrm>
              <a:off x="6477000" y="22860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8798" name="TextBox 14"/>
            <p:cNvSpPr txBox="1"/>
            <p:nvPr/>
          </p:nvSpPr>
          <p:spPr>
            <a:xfrm>
              <a:off x="6469380" y="2508250"/>
              <a:ext cx="2301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肇庆市端州区波海蓝湾会所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会所外墙整体翻新，米白色无机饰面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799" name="TextBox 15"/>
            <p:cNvSpPr txBox="1"/>
            <p:nvPr/>
          </p:nvSpPr>
          <p:spPr>
            <a:xfrm>
              <a:off x="6469380" y="338455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梅州市大埔县茶阳镇茅坪文富村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村居外墙改造，旧墙直接喷涂两遍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00" name="TextBox 16"/>
            <p:cNvSpPr txBox="1"/>
            <p:nvPr/>
          </p:nvSpPr>
          <p:spPr>
            <a:xfrm>
              <a:off x="6469380" y="4260850"/>
              <a:ext cx="2387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做法一致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抗裂防水砂浆基面 → 无机底固 → 两遍喷涂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01" name="Freeform 17"/>
            <p:cNvSpPr/>
            <p:nvPr/>
          </p:nvSpPr>
          <p:spPr>
            <a:xfrm>
              <a:off x="6477000" y="51435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8802" name="TextBox 18"/>
            <p:cNvSpPr txBox="1"/>
            <p:nvPr/>
          </p:nvSpPr>
          <p:spPr>
            <a:xfrm>
              <a:off x="6775704" y="5048250"/>
              <a:ext cx="1524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以下照片均为现场实拍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7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803" name="Rectangle 2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804" name="TextBox 21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05" name="TextBox 22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23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0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808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31" name="page-title"/>
          <p:cNvGrpSpPr/>
          <p:nvPr/>
        </p:nvGrpSpPr>
        <p:grpSpPr>
          <a:xfrm>
            <a:off x="746760" y="622300"/>
            <a:ext cx="4089401" cy="892175"/>
            <a:chOff x="746760" y="622300"/>
            <a:chExt cx="4089401" cy="892175"/>
          </a:xfrm>
        </p:grpSpPr>
        <p:sp>
          <p:nvSpPr>
            <p:cNvPr id="1048809" name="TextBox 4"/>
            <p:cNvSpPr txBox="1"/>
            <p:nvPr/>
          </p:nvSpPr>
          <p:spPr>
            <a:xfrm>
              <a:off x="746760" y="622300"/>
              <a:ext cx="4089401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外墙应用案例 · 厦门集美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10" name="TextBox 5"/>
            <p:cNvSpPr txBox="1"/>
            <p:nvPr/>
          </p:nvSpPr>
          <p:spPr>
            <a:xfrm>
              <a:off x="755904" y="1143000"/>
              <a:ext cx="3424932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Qiaoying Street Project, Jimei District, Xiamen City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11" name="Freeform 6"/>
            <p:cNvSpPr/>
            <p:nvPr/>
          </p:nvSpPr>
          <p:spPr>
            <a:xfrm>
              <a:off x="762000" y="15049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132" name="xiamen-text"/>
          <p:cNvGrpSpPr/>
          <p:nvPr/>
        </p:nvGrpSpPr>
        <p:grpSpPr>
          <a:xfrm>
            <a:off x="752856" y="1968500"/>
            <a:ext cx="5533644" cy="4076700"/>
            <a:chOff x="752856" y="1968500"/>
            <a:chExt cx="5533644" cy="4076700"/>
          </a:xfrm>
        </p:grpSpPr>
        <p:sp>
          <p:nvSpPr>
            <p:cNvPr id="1048812" name="TextBox 8"/>
            <p:cNvSpPr txBox="1"/>
            <p:nvPr/>
          </p:nvSpPr>
          <p:spPr>
            <a:xfrm>
              <a:off x="752856" y="1968500"/>
              <a:ext cx="45902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厦门市集美区侨英街道项目，外墙采用贝之然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纯无机涂料，抗裂防水砂浆基面上两遍喷涂。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13" name="Freeform 9"/>
            <p:cNvSpPr/>
            <p:nvPr/>
          </p:nvSpPr>
          <p:spPr>
            <a:xfrm>
              <a:off x="762000" y="31051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8814" name="TextBox 10"/>
            <p:cNvSpPr txBox="1"/>
            <p:nvPr/>
          </p:nvSpPr>
          <p:spPr>
            <a:xfrm>
              <a:off x="755904" y="3390900"/>
              <a:ext cx="6096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项目类型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15" name="TextBox 11"/>
            <p:cNvSpPr txBox="1"/>
            <p:nvPr/>
          </p:nvSpPr>
          <p:spPr>
            <a:xfrm>
              <a:off x="754380" y="3708400"/>
              <a:ext cx="1524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街道沿线建筑立面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16" name="TextBox 12"/>
            <p:cNvSpPr txBox="1"/>
            <p:nvPr/>
          </p:nvSpPr>
          <p:spPr>
            <a:xfrm>
              <a:off x="755904" y="4248150"/>
              <a:ext cx="3048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做法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17" name="TextBox 13"/>
            <p:cNvSpPr txBox="1"/>
            <p:nvPr/>
          </p:nvSpPr>
          <p:spPr>
            <a:xfrm>
              <a:off x="754380" y="4565650"/>
              <a:ext cx="4305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旧墙修补 → 抗裂防水砂浆 → 无机底固 → 两遍喷涂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18" name="TextBox 14"/>
            <p:cNvSpPr txBox="1"/>
            <p:nvPr/>
          </p:nvSpPr>
          <p:spPr>
            <a:xfrm>
              <a:off x="755904" y="510540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效果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19" name="TextBox 15"/>
            <p:cNvSpPr txBox="1"/>
            <p:nvPr/>
          </p:nvSpPr>
          <p:spPr>
            <a:xfrm>
              <a:off x="754380" y="5422900"/>
              <a:ext cx="285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整体色调统一，与街区风貌协调。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20" name="Freeform 16"/>
            <p:cNvSpPr/>
            <p:nvPr/>
          </p:nvSpPr>
          <p:spPr>
            <a:xfrm>
              <a:off x="762000" y="59626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8821" name="TextBox 17"/>
            <p:cNvSpPr txBox="1"/>
            <p:nvPr/>
          </p:nvSpPr>
          <p:spPr>
            <a:xfrm>
              <a:off x="1022604" y="5867400"/>
              <a:ext cx="609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现场实拍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3" name="xiamen-photo"/>
          <p:cNvGrpSpPr/>
          <p:nvPr/>
        </p:nvGrpSpPr>
        <p:grpSpPr>
          <a:xfrm>
            <a:off x="6852666" y="1905000"/>
            <a:ext cx="4386834" cy="4127500"/>
            <a:chOff x="6852666" y="1905000"/>
            <a:chExt cx="4386834" cy="4127500"/>
          </a:xfrm>
        </p:grpSpPr>
        <p:pic>
          <p:nvPicPr>
            <p:cNvPr id="2097191" name="Image 19"/>
            <p:cNvPicPr>
              <a:picLocks noChangeAspect="1"/>
            </p:cNvPicPr>
            <p:nvPr/>
          </p:nvPicPr>
          <p:blipFill>
            <a:blip r:embed="rId2"/>
            <a:srcRect l="9726" r="9727"/>
            <a:stretch>
              <a:fillRect/>
            </a:stretch>
          </p:blipFill>
          <p:spPr>
            <a:xfrm>
              <a:off x="6858000" y="1905000"/>
              <a:ext cx="4381500" cy="3810000"/>
            </a:xfrm>
            <a:prstGeom prst="rect">
              <a:avLst/>
            </a:prstGeom>
          </p:spPr>
        </p:pic>
        <p:sp>
          <p:nvSpPr>
            <p:cNvPr id="1048822" name="Freeform 20"/>
            <p:cNvSpPr/>
            <p:nvPr/>
          </p:nvSpPr>
          <p:spPr>
            <a:xfrm>
              <a:off x="6858000" y="1905000"/>
              <a:ext cx="4381500" cy="3810000"/>
            </a:xfrm>
            <a:custGeom>
              <a:avLst/>
              <a:gdLst/>
              <a:ahLst/>
              <a:cxnLst/>
              <a:rect l="l" t="t" r="r" b="b"/>
              <a:pathLst>
                <a:path w="4381500" h="3810000">
                  <a:moveTo>
                    <a:pt x="0" y="0"/>
                  </a:moveTo>
                  <a:lnTo>
                    <a:pt x="4381500" y="0"/>
                  </a:lnTo>
                  <a:lnTo>
                    <a:pt x="4381500" y="3810000"/>
                  </a:lnTo>
                  <a:lnTo>
                    <a:pt x="0" y="3810000"/>
                  </a:lnTo>
                  <a:close/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48823" name="TextBox 21"/>
            <p:cNvSpPr txBox="1"/>
            <p:nvPr/>
          </p:nvSpPr>
          <p:spPr>
            <a:xfrm>
              <a:off x="6852666" y="5892800"/>
              <a:ext cx="127000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厦门集美侨英街道项目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4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824" name="Rectangle 23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825" name="TextBox 24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26" name="TextBox 25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24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2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829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38" name="page-title"/>
          <p:cNvGrpSpPr/>
          <p:nvPr/>
        </p:nvGrpSpPr>
        <p:grpSpPr>
          <a:xfrm>
            <a:off x="739775" y="622300"/>
            <a:ext cx="6393180" cy="892175"/>
            <a:chOff x="739775" y="622300"/>
            <a:chExt cx="6393180" cy="892175"/>
          </a:xfrm>
        </p:grpSpPr>
        <p:sp>
          <p:nvSpPr>
            <p:cNvPr id="1048830" name="TextBox 4"/>
            <p:cNvSpPr txBox="1"/>
            <p:nvPr/>
          </p:nvSpPr>
          <p:spPr>
            <a:xfrm>
              <a:off x="739775" y="622300"/>
              <a:ext cx="639318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外墙应用案例 · 深圳宝安</a:t>
              </a:r>
              <a:r>
                <a:rPr sz="3000" b="1" dirty="0">
                  <a:solidFill>
                    <a:schemeClr val="accent1"/>
                  </a:solidFill>
                  <a:sym typeface="+mn-ea"/>
                </a:rPr>
                <a:t> · 拉萨中储粮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31" name="TextBox 5"/>
            <p:cNvSpPr txBox="1"/>
            <p:nvPr/>
          </p:nvSpPr>
          <p:spPr>
            <a:xfrm>
              <a:off x="755904" y="1143000"/>
              <a:ext cx="3184228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Xitou Industrial Park, Bao'an District, Shenzhen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32" name="Freeform 6"/>
            <p:cNvSpPr/>
            <p:nvPr/>
          </p:nvSpPr>
          <p:spPr>
            <a:xfrm>
              <a:off x="762000" y="15049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139" name="shenzhen-text"/>
          <p:cNvGrpSpPr/>
          <p:nvPr/>
        </p:nvGrpSpPr>
        <p:grpSpPr>
          <a:xfrm>
            <a:off x="752856" y="1968500"/>
            <a:ext cx="5533644" cy="4076700"/>
            <a:chOff x="752856" y="1968500"/>
            <a:chExt cx="5533644" cy="4076700"/>
          </a:xfrm>
        </p:grpSpPr>
        <p:sp>
          <p:nvSpPr>
            <p:cNvPr id="1048833" name="TextBox 8"/>
            <p:cNvSpPr txBox="1"/>
            <p:nvPr/>
          </p:nvSpPr>
          <p:spPr>
            <a:xfrm>
              <a:off x="752856" y="1968500"/>
              <a:ext cx="45902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深圳市宝安区溪头工业园外墙案例：旧墙直接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喷涂，不做整面铲除，工期短、成本可控。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34" name="Freeform 9"/>
            <p:cNvSpPr/>
            <p:nvPr/>
          </p:nvSpPr>
          <p:spPr>
            <a:xfrm>
              <a:off x="762000" y="31051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8835" name="TextBox 10"/>
            <p:cNvSpPr txBox="1"/>
            <p:nvPr/>
          </p:nvSpPr>
          <p:spPr>
            <a:xfrm>
              <a:off x="755904" y="3390900"/>
              <a:ext cx="4572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样板墙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36" name="TextBox 11"/>
            <p:cNvSpPr txBox="1"/>
            <p:nvPr/>
          </p:nvSpPr>
          <p:spPr>
            <a:xfrm>
              <a:off x="754380" y="3708400"/>
              <a:ext cx="419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水泥砂浆找平后做样板，确认颜色与质感再施工。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37" name="TextBox 12"/>
            <p:cNvSpPr txBox="1"/>
            <p:nvPr/>
          </p:nvSpPr>
          <p:spPr>
            <a:xfrm>
              <a:off x="755904" y="4248150"/>
              <a:ext cx="3048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效果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38" name="TextBox 13"/>
            <p:cNvSpPr txBox="1"/>
            <p:nvPr/>
          </p:nvSpPr>
          <p:spPr>
            <a:xfrm>
              <a:off x="754380" y="4565650"/>
              <a:ext cx="285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立面整体哑光，无接缝、无流挂。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39" name="TextBox 14"/>
            <p:cNvSpPr txBox="1"/>
            <p:nvPr/>
          </p:nvSpPr>
          <p:spPr>
            <a:xfrm>
              <a:off x="755904" y="510540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说明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40" name="TextBox 15"/>
            <p:cNvSpPr txBox="1"/>
            <p:nvPr/>
          </p:nvSpPr>
          <p:spPr>
            <a:xfrm>
              <a:off x="754380" y="5422900"/>
              <a:ext cx="3048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照片为现场实拍，未经效果图修饰。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41" name="Freeform 16"/>
            <p:cNvSpPr/>
            <p:nvPr/>
          </p:nvSpPr>
          <p:spPr>
            <a:xfrm>
              <a:off x="762000" y="59626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8842" name="TextBox 17"/>
            <p:cNvSpPr txBox="1"/>
            <p:nvPr/>
          </p:nvSpPr>
          <p:spPr>
            <a:xfrm>
              <a:off x="1022604" y="5867400"/>
              <a:ext cx="762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工业园外墙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0" name="shenzhen-photo"/>
          <p:cNvGrpSpPr/>
          <p:nvPr/>
        </p:nvGrpSpPr>
        <p:grpSpPr>
          <a:xfrm>
            <a:off x="8646795" y="3805555"/>
            <a:ext cx="2894965" cy="2063750"/>
            <a:chOff x="6851904" y="1905000"/>
            <a:chExt cx="4627122" cy="4016529"/>
          </a:xfrm>
        </p:grpSpPr>
        <p:pic>
          <p:nvPicPr>
            <p:cNvPr id="2097193" name="Image 19"/>
            <p:cNvPicPr>
              <a:picLocks noChangeAspect="1"/>
            </p:cNvPicPr>
            <p:nvPr/>
          </p:nvPicPr>
          <p:blipFill>
            <a:blip r:embed="rId2"/>
            <a:srcRect l="2092" r="2093"/>
            <a:stretch>
              <a:fillRect/>
            </a:stretch>
          </p:blipFill>
          <p:spPr>
            <a:xfrm>
              <a:off x="6858000" y="1905000"/>
              <a:ext cx="4381500" cy="3429000"/>
            </a:xfrm>
            <a:prstGeom prst="rect">
              <a:avLst/>
            </a:prstGeom>
          </p:spPr>
        </p:pic>
        <p:sp>
          <p:nvSpPr>
            <p:cNvPr id="1048843" name="Freeform 20"/>
            <p:cNvSpPr/>
            <p:nvPr/>
          </p:nvSpPr>
          <p:spPr>
            <a:xfrm>
              <a:off x="6858000" y="1905000"/>
              <a:ext cx="4381500" cy="3429000"/>
            </a:xfrm>
            <a:custGeom>
              <a:avLst/>
              <a:gdLst/>
              <a:ahLst/>
              <a:cxnLst/>
              <a:rect l="l" t="t" r="r" b="b"/>
              <a:pathLst>
                <a:path w="4381500" h="3429000">
                  <a:moveTo>
                    <a:pt x="0" y="0"/>
                  </a:moveTo>
                  <a:lnTo>
                    <a:pt x="4381500" y="0"/>
                  </a:lnTo>
                  <a:lnTo>
                    <a:pt x="4381500" y="3429000"/>
                  </a:lnTo>
                  <a:lnTo>
                    <a:pt x="0" y="3429000"/>
                  </a:lnTo>
                  <a:close/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48844" name="TextBox 21"/>
            <p:cNvSpPr txBox="1"/>
            <p:nvPr/>
          </p:nvSpPr>
          <p:spPr>
            <a:xfrm>
              <a:off x="6851904" y="5563131"/>
              <a:ext cx="4627122" cy="3583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深圳市宝安区溪头工业园外墙</a:t>
              </a:r>
              <a:r>
                <a:rPr lang="en-US" altLang="zh-CN" sz="1200" dirty="0">
                  <a:solidFill>
                    <a:schemeClr val="accent5"/>
                  </a:solidFill>
                  <a:sym typeface="+mn-ea"/>
                </a:rPr>
                <a:t> · </a:t>
              </a:r>
              <a:r>
                <a:rPr altLang="en-US" sz="1200" dirty="0">
                  <a:solidFill>
                    <a:schemeClr val="accent5"/>
                  </a:solidFill>
                  <a:sym typeface="+mn-ea"/>
                </a:rPr>
                <a:t>案例</a:t>
              </a:r>
              <a:r>
                <a:rPr lang="en-US" alt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1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845" name="Rectangle 23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846" name="TextBox 24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47" name="TextBox 25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25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097194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795" y="1046480"/>
            <a:ext cx="2758440" cy="2068830"/>
          </a:xfrm>
          <a:prstGeom prst="rect">
            <a:avLst/>
          </a:prstGeom>
        </p:spPr>
      </p:pic>
      <p:pic>
        <p:nvPicPr>
          <p:cNvPr id="2097195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0210" y="1046480"/>
            <a:ext cx="2745105" cy="2058670"/>
          </a:xfrm>
          <a:prstGeom prst="rect">
            <a:avLst/>
          </a:prstGeom>
        </p:spPr>
      </p:pic>
      <p:sp>
        <p:nvSpPr>
          <p:cNvPr id="1048848" name="TextBox 21"/>
          <p:cNvSpPr txBox="1"/>
          <p:nvPr/>
        </p:nvSpPr>
        <p:spPr>
          <a:xfrm>
            <a:off x="5490210" y="3246120"/>
            <a:ext cx="2894965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深圳市宝安区溪头工业园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· 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样板墙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48849" name="TextBox 21"/>
          <p:cNvSpPr txBox="1"/>
          <p:nvPr/>
        </p:nvSpPr>
        <p:spPr>
          <a:xfrm>
            <a:off x="8650605" y="3258185"/>
            <a:ext cx="2894965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深圳市宝安区溪头工业园外墙</a:t>
            </a:r>
            <a:r>
              <a:rPr lang="en-US" altLang="zh-CN" sz="1200" dirty="0">
                <a:solidFill>
                  <a:schemeClr val="accent5"/>
                </a:solidFill>
                <a:sym typeface="+mn-ea"/>
              </a:rPr>
              <a:t> · </a:t>
            </a:r>
            <a:r>
              <a:rPr altLang="en-US" sz="1200" dirty="0">
                <a:solidFill>
                  <a:schemeClr val="accent5"/>
                </a:solidFill>
                <a:sym typeface="+mn-ea"/>
              </a:rPr>
              <a:t>案例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</a:t>
            </a:r>
            <a:endParaRPr lang="en-US" alt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0210" y="3805555"/>
            <a:ext cx="2745105" cy="1830070"/>
          </a:xfrm>
          <a:prstGeom prst="rect">
            <a:avLst/>
          </a:prstGeom>
        </p:spPr>
      </p:pic>
      <p:sp>
        <p:nvSpPr>
          <p:cNvPr id="4" name="TextBox 21"/>
          <p:cNvSpPr txBox="1"/>
          <p:nvPr/>
        </p:nvSpPr>
        <p:spPr>
          <a:xfrm>
            <a:off x="5462905" y="5700395"/>
            <a:ext cx="2894965" cy="368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p>
            <a:pPr algn="l"/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中国储备粮管理集团有限公司</a:t>
            </a:r>
            <a:endParaRPr lang="zh-CN" altLang="en-US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  <a:p>
            <a:pPr algn="l"/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中储粮</a:t>
            </a:r>
            <a:r>
              <a:rPr lang="en-US" altLang="zh-CN" sz="1200" dirty="0">
                <a:solidFill>
                  <a:schemeClr val="accent5"/>
                </a:solidFill>
                <a:sym typeface="+mn-ea"/>
              </a:rPr>
              <a:t> · 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拉萨直属库案例</a:t>
            </a:r>
            <a:endParaRPr lang="zh-CN" altLang="en-US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6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852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45" name="page-title"/>
          <p:cNvGrpSpPr/>
          <p:nvPr/>
        </p:nvGrpSpPr>
        <p:grpSpPr>
          <a:xfrm>
            <a:off x="746760" y="622300"/>
            <a:ext cx="4089400" cy="892175"/>
            <a:chOff x="746760" y="622300"/>
            <a:chExt cx="4089400" cy="892175"/>
          </a:xfrm>
        </p:grpSpPr>
        <p:sp>
          <p:nvSpPr>
            <p:cNvPr id="1048853" name="TextBox 4"/>
            <p:cNvSpPr txBox="1"/>
            <p:nvPr/>
          </p:nvSpPr>
          <p:spPr>
            <a:xfrm>
              <a:off x="746760" y="622300"/>
              <a:ext cx="4089400" cy="4445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外墙应用案例 · 安溪官岭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54" name="TextBox 5"/>
            <p:cNvSpPr txBox="1"/>
            <p:nvPr/>
          </p:nvSpPr>
          <p:spPr>
            <a:xfrm>
              <a:off x="755904" y="1143000"/>
              <a:ext cx="3184228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Xitou Industrial Park, Bao'an District, Shenzhen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55" name="Freeform 6"/>
            <p:cNvSpPr/>
            <p:nvPr/>
          </p:nvSpPr>
          <p:spPr>
            <a:xfrm>
              <a:off x="762000" y="15049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146" name="shenzhen-text"/>
          <p:cNvGrpSpPr/>
          <p:nvPr/>
        </p:nvGrpSpPr>
        <p:grpSpPr>
          <a:xfrm>
            <a:off x="752856" y="1968500"/>
            <a:ext cx="5533644" cy="4076700"/>
            <a:chOff x="752856" y="1968500"/>
            <a:chExt cx="5533644" cy="4076700"/>
          </a:xfrm>
        </p:grpSpPr>
        <p:sp>
          <p:nvSpPr>
            <p:cNvPr id="1048856" name="TextBox 8"/>
            <p:cNvSpPr txBox="1"/>
            <p:nvPr/>
          </p:nvSpPr>
          <p:spPr>
            <a:xfrm>
              <a:off x="752856" y="1968500"/>
              <a:ext cx="36576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福建省安溪官岭外墙案例：旧墙直接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喷涂，不做整面铲除，工期短、成本可控。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57" name="Freeform 9"/>
            <p:cNvSpPr/>
            <p:nvPr/>
          </p:nvSpPr>
          <p:spPr>
            <a:xfrm>
              <a:off x="762000" y="31051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8858" name="TextBox 10"/>
            <p:cNvSpPr txBox="1"/>
            <p:nvPr/>
          </p:nvSpPr>
          <p:spPr>
            <a:xfrm>
              <a:off x="755904" y="3390900"/>
              <a:ext cx="4572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样板墙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59" name="TextBox 11"/>
            <p:cNvSpPr txBox="1"/>
            <p:nvPr/>
          </p:nvSpPr>
          <p:spPr>
            <a:xfrm>
              <a:off x="754380" y="3708400"/>
              <a:ext cx="419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水泥砂浆找平后做样板，确认颜色与质感再施工。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60" name="TextBox 12"/>
            <p:cNvSpPr txBox="1"/>
            <p:nvPr/>
          </p:nvSpPr>
          <p:spPr>
            <a:xfrm>
              <a:off x="755904" y="4248150"/>
              <a:ext cx="3048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效果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61" name="TextBox 13"/>
            <p:cNvSpPr txBox="1"/>
            <p:nvPr/>
          </p:nvSpPr>
          <p:spPr>
            <a:xfrm>
              <a:off x="754380" y="4565650"/>
              <a:ext cx="285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立面整体哑光，无接缝、无流挂。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62" name="TextBox 14"/>
            <p:cNvSpPr txBox="1"/>
            <p:nvPr/>
          </p:nvSpPr>
          <p:spPr>
            <a:xfrm>
              <a:off x="755904" y="510540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说明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63" name="TextBox 15"/>
            <p:cNvSpPr txBox="1"/>
            <p:nvPr/>
          </p:nvSpPr>
          <p:spPr>
            <a:xfrm>
              <a:off x="754380" y="5422900"/>
              <a:ext cx="3048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照片为现场实拍，未经效果图修饰。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64" name="Freeform 16"/>
            <p:cNvSpPr/>
            <p:nvPr/>
          </p:nvSpPr>
          <p:spPr>
            <a:xfrm>
              <a:off x="762000" y="59626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8865" name="TextBox 17"/>
            <p:cNvSpPr txBox="1"/>
            <p:nvPr/>
          </p:nvSpPr>
          <p:spPr>
            <a:xfrm>
              <a:off x="1022604" y="5867400"/>
              <a:ext cx="762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工业园外墙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7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866" name="Rectangle 23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867" name="TextBox 24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68" name="TextBox 25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25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09719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570" y="963295"/>
            <a:ext cx="2856230" cy="2141855"/>
          </a:xfrm>
          <a:prstGeom prst="rect">
            <a:avLst/>
          </a:prstGeom>
        </p:spPr>
      </p:pic>
      <p:pic>
        <p:nvPicPr>
          <p:cNvPr id="209719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963295"/>
            <a:ext cx="2897505" cy="2172970"/>
          </a:xfrm>
          <a:prstGeom prst="rect">
            <a:avLst/>
          </a:prstGeom>
        </p:spPr>
      </p:pic>
      <p:sp>
        <p:nvSpPr>
          <p:cNvPr id="1048869" name="文本框 30"/>
          <p:cNvSpPr txBox="1"/>
          <p:nvPr/>
        </p:nvSpPr>
        <p:spPr>
          <a:xfrm>
            <a:off x="4171950" y="3284855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altLang="en-US" sz="1200" spc="-25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贝之然内墙涂料效果图</a:t>
            </a:r>
            <a:r>
              <a:rPr lang="en-US" altLang="zh-CN" sz="1200" spc="-25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endParaRPr lang="en-US" altLang="zh-CN" sz="1200" spc="-25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48870" name="文本框 31"/>
          <p:cNvSpPr txBox="1"/>
          <p:nvPr/>
        </p:nvSpPr>
        <p:spPr>
          <a:xfrm>
            <a:off x="7477760" y="3284855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altLang="en-US" sz="1200" spc="-25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贝之然内墙涂料效果图</a:t>
            </a:r>
            <a:r>
              <a:rPr lang="en-US" altLang="zh-CN" sz="1200" spc="-25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en-US" altLang="zh-CN" sz="1200" spc="-25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48871" name="文本框 32"/>
          <p:cNvSpPr txBox="1"/>
          <p:nvPr/>
        </p:nvSpPr>
        <p:spPr>
          <a:xfrm>
            <a:off x="7383780" y="5930265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altLang="en-US" sz="1200" spc="-25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贝之然内墙涂料效果图</a:t>
            </a:r>
            <a:r>
              <a:rPr lang="en-US" altLang="zh-CN" sz="1200" spc="-25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endParaRPr lang="en-US" altLang="zh-CN" sz="1200" spc="-25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09719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2075" y="3709670"/>
            <a:ext cx="2879725" cy="2157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0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874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51" name="page-title"/>
          <p:cNvGrpSpPr/>
          <p:nvPr/>
        </p:nvGrpSpPr>
        <p:grpSpPr>
          <a:xfrm>
            <a:off x="746760" y="622300"/>
            <a:ext cx="4089401" cy="892175"/>
            <a:chOff x="746760" y="622300"/>
            <a:chExt cx="4089401" cy="892175"/>
          </a:xfrm>
        </p:grpSpPr>
        <p:sp>
          <p:nvSpPr>
            <p:cNvPr id="1048875" name="TextBox 4"/>
            <p:cNvSpPr txBox="1"/>
            <p:nvPr/>
          </p:nvSpPr>
          <p:spPr>
            <a:xfrm>
              <a:off x="746760" y="622300"/>
              <a:ext cx="4089401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内墙应用案例 · 广州宾馆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76" name="TextBox 5"/>
            <p:cNvSpPr txBox="1"/>
            <p:nvPr/>
          </p:nvSpPr>
          <p:spPr>
            <a:xfrm>
              <a:off x="755904" y="1143000"/>
              <a:ext cx="268992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Interior Wall Coating Application Cases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77" name="Freeform 6"/>
            <p:cNvSpPr/>
            <p:nvPr/>
          </p:nvSpPr>
          <p:spPr>
            <a:xfrm>
              <a:off x="762000" y="15049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152" name="hotel-text"/>
          <p:cNvGrpSpPr/>
          <p:nvPr/>
        </p:nvGrpSpPr>
        <p:grpSpPr>
          <a:xfrm>
            <a:off x="752856" y="1968500"/>
            <a:ext cx="5533644" cy="4076700"/>
            <a:chOff x="752856" y="1968500"/>
            <a:chExt cx="5533644" cy="4076700"/>
          </a:xfrm>
        </p:grpSpPr>
        <p:sp>
          <p:nvSpPr>
            <p:cNvPr id="1048878" name="TextBox 8"/>
            <p:cNvSpPr txBox="1"/>
            <p:nvPr/>
          </p:nvSpPr>
          <p:spPr>
            <a:xfrm>
              <a:off x="752856" y="1968500"/>
              <a:ext cx="45902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广州市越秀区广州宾馆，客房与公共区域内墙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采用贝之然内墙系列，随刷随住。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79" name="Freeform 9"/>
            <p:cNvSpPr/>
            <p:nvPr/>
          </p:nvSpPr>
          <p:spPr>
            <a:xfrm>
              <a:off x="762000" y="31051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8880" name="TextBox 10"/>
            <p:cNvSpPr txBox="1"/>
            <p:nvPr/>
          </p:nvSpPr>
          <p:spPr>
            <a:xfrm>
              <a:off x="755904" y="3390900"/>
              <a:ext cx="6096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项目类型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81" name="TextBox 11"/>
            <p:cNvSpPr txBox="1"/>
            <p:nvPr/>
          </p:nvSpPr>
          <p:spPr>
            <a:xfrm>
              <a:off x="754380" y="3708400"/>
              <a:ext cx="2095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酒店客房与走廊内墙翻新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82" name="TextBox 12"/>
            <p:cNvSpPr txBox="1"/>
            <p:nvPr/>
          </p:nvSpPr>
          <p:spPr>
            <a:xfrm>
              <a:off x="755904" y="4248150"/>
              <a:ext cx="3048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选型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83" name="TextBox 13"/>
            <p:cNvSpPr txBox="1"/>
            <p:nvPr/>
          </p:nvSpPr>
          <p:spPr>
            <a:xfrm>
              <a:off x="754380" y="4565650"/>
              <a:ext cx="3097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家装内墙系列，VOC 未检出、无异味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84" name="TextBox 14"/>
            <p:cNvSpPr txBox="1"/>
            <p:nvPr/>
          </p:nvSpPr>
          <p:spPr>
            <a:xfrm>
              <a:off x="755904" y="510540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优势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85" name="TextBox 15"/>
            <p:cNvSpPr txBox="1"/>
            <p:nvPr/>
          </p:nvSpPr>
          <p:spPr>
            <a:xfrm>
              <a:off x="754380" y="5422900"/>
              <a:ext cx="3238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边施工边营业，无需长时间停业散味。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86" name="Freeform 16"/>
            <p:cNvSpPr/>
            <p:nvPr/>
          </p:nvSpPr>
          <p:spPr>
            <a:xfrm>
              <a:off x="762000" y="59626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8887" name="TextBox 17"/>
            <p:cNvSpPr txBox="1"/>
            <p:nvPr/>
          </p:nvSpPr>
          <p:spPr>
            <a:xfrm>
              <a:off x="1022604" y="5867400"/>
              <a:ext cx="13462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内墙效果图 1 / 2 / 3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3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888" name="Rectangle 23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889" name="TextBox 24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90" name="TextBox 25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26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48891" name="object 17"/>
          <p:cNvSpPr txBox="1"/>
          <p:nvPr/>
        </p:nvSpPr>
        <p:spPr>
          <a:xfrm>
            <a:off x="5857240" y="3215005"/>
            <a:ext cx="2808605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lang="zh-CN" altLang="en-US" sz="1200" spc="-25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  <a:sym typeface="+mn-ea"/>
              </a:rPr>
              <a:t>广州市越秀区广州宾馆</a:t>
            </a:r>
            <a:endParaRPr lang="zh-CN" altLang="en-US" sz="1200" spc="-25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  <a:sym typeface="+mn-ea"/>
            </a:endParaRPr>
          </a:p>
        </p:txBody>
      </p:sp>
      <p:sp>
        <p:nvSpPr>
          <p:cNvPr id="1048892" name="object 17"/>
          <p:cNvSpPr txBox="1"/>
          <p:nvPr/>
        </p:nvSpPr>
        <p:spPr>
          <a:xfrm>
            <a:off x="6286500" y="6102350"/>
            <a:ext cx="2514600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lang="zh-CN" altLang="en-US" sz="1200" spc="-25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贝之然内墙涂料效果图</a:t>
            </a:r>
            <a:r>
              <a:rPr lang="en-US" altLang="zh-CN" sz="1200" spc="-25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en-US" altLang="zh-CN" sz="1200" spc="-25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48893" name="object 17"/>
          <p:cNvSpPr txBox="1"/>
          <p:nvPr/>
        </p:nvSpPr>
        <p:spPr>
          <a:xfrm>
            <a:off x="8954770" y="6102350"/>
            <a:ext cx="2514600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lang="zh-CN" altLang="en-US" sz="1200" spc="-25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贝之然内墙涂料效果图</a:t>
            </a:r>
            <a:r>
              <a:rPr lang="en-US" altLang="zh-CN" sz="1200" spc="-25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endParaRPr lang="en-US" altLang="zh-CN" sz="1200" spc="-25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48894" name="object 17"/>
          <p:cNvSpPr txBox="1"/>
          <p:nvPr/>
        </p:nvSpPr>
        <p:spPr>
          <a:xfrm>
            <a:off x="8587740" y="3216275"/>
            <a:ext cx="3047365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lang="zh-CN" altLang="en-US" sz="1200" spc="-25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贝之然内墙涂料效果图</a:t>
            </a:r>
            <a:r>
              <a:rPr lang="en-US" altLang="zh-CN" sz="1200" spc="-25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1200" spc="-25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97201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970" y="737870"/>
            <a:ext cx="2303145" cy="2303145"/>
          </a:xfrm>
          <a:prstGeom prst="rect">
            <a:avLst/>
          </a:prstGeom>
        </p:spPr>
      </p:pic>
      <p:pic>
        <p:nvPicPr>
          <p:cNvPr id="2097202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315" y="741045"/>
            <a:ext cx="2302510" cy="2302510"/>
          </a:xfrm>
          <a:prstGeom prst="rect">
            <a:avLst/>
          </a:prstGeom>
        </p:spPr>
      </p:pic>
      <p:pic>
        <p:nvPicPr>
          <p:cNvPr id="2097203" name="图片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9970" y="3708400"/>
            <a:ext cx="2303145" cy="2303145"/>
          </a:xfrm>
          <a:prstGeom prst="rect">
            <a:avLst/>
          </a:prstGeom>
        </p:spPr>
      </p:pic>
      <p:pic>
        <p:nvPicPr>
          <p:cNvPr id="2097204" name="图片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0315" y="3708400"/>
            <a:ext cx="2233295" cy="2233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5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897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57" name="page-title"/>
          <p:cNvGrpSpPr/>
          <p:nvPr/>
        </p:nvGrpSpPr>
        <p:grpSpPr>
          <a:xfrm>
            <a:off x="746760" y="622300"/>
            <a:ext cx="2286000" cy="892175"/>
            <a:chOff x="746760" y="622300"/>
            <a:chExt cx="2286000" cy="892175"/>
          </a:xfrm>
        </p:grpSpPr>
        <p:sp>
          <p:nvSpPr>
            <p:cNvPr id="1048898" name="TextBox 4"/>
            <p:cNvSpPr txBox="1"/>
            <p:nvPr/>
          </p:nvSpPr>
          <p:spPr>
            <a:xfrm>
              <a:off x="746760" y="622300"/>
              <a:ext cx="2286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内墙应用效果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99" name="TextBox 5"/>
            <p:cNvSpPr txBox="1"/>
            <p:nvPr/>
          </p:nvSpPr>
          <p:spPr>
            <a:xfrm>
              <a:off x="755904" y="1143000"/>
              <a:ext cx="223272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Interior Wall Coating Application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00" name="Freeform 6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158" name="interior-text"/>
          <p:cNvGrpSpPr/>
          <p:nvPr/>
        </p:nvGrpSpPr>
        <p:grpSpPr>
          <a:xfrm>
            <a:off x="752856" y="1968500"/>
            <a:ext cx="6105144" cy="4076700"/>
            <a:chOff x="752856" y="1968500"/>
            <a:chExt cx="6105144" cy="4076700"/>
          </a:xfrm>
        </p:grpSpPr>
        <p:sp>
          <p:nvSpPr>
            <p:cNvPr id="1048901" name="TextBox 8"/>
            <p:cNvSpPr txBox="1"/>
            <p:nvPr/>
          </p:nvSpPr>
          <p:spPr>
            <a:xfrm>
              <a:off x="752856" y="1968500"/>
              <a:ext cx="45902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内墙成品为哑光质感，手感细腻，光线照上去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没有明显反光与接缝。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02" name="Freeform 9"/>
            <p:cNvSpPr/>
            <p:nvPr/>
          </p:nvSpPr>
          <p:spPr>
            <a:xfrm>
              <a:off x="762000" y="310515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8903" name="TextBox 10"/>
            <p:cNvSpPr txBox="1"/>
            <p:nvPr/>
          </p:nvSpPr>
          <p:spPr>
            <a:xfrm>
              <a:off x="755904" y="3390900"/>
              <a:ext cx="3048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触感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04" name="TextBox 11"/>
            <p:cNvSpPr txBox="1"/>
            <p:nvPr/>
          </p:nvSpPr>
          <p:spPr>
            <a:xfrm>
              <a:off x="754380" y="3708400"/>
              <a:ext cx="3429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陶瓷级硬度，日常擦拭不掉粉、不留痕。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05" name="TextBox 12"/>
            <p:cNvSpPr txBox="1"/>
            <p:nvPr/>
          </p:nvSpPr>
          <p:spPr>
            <a:xfrm>
              <a:off x="755904" y="4248150"/>
              <a:ext cx="3048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气味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06" name="TextBox 13"/>
            <p:cNvSpPr txBox="1"/>
            <p:nvPr/>
          </p:nvSpPr>
          <p:spPr>
            <a:xfrm>
              <a:off x="754380" y="4565650"/>
              <a:ext cx="3097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VOC 未检出，施工期间无明显气味。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07" name="TextBox 14"/>
            <p:cNvSpPr txBox="1"/>
            <p:nvPr/>
          </p:nvSpPr>
          <p:spPr>
            <a:xfrm>
              <a:off x="755904" y="510540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使用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08" name="TextBox 15"/>
            <p:cNvSpPr txBox="1"/>
            <p:nvPr/>
          </p:nvSpPr>
          <p:spPr>
            <a:xfrm>
              <a:off x="754380" y="5422900"/>
              <a:ext cx="2476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随刷随住，不需要空置散味。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09" name="Freeform 16"/>
            <p:cNvSpPr/>
            <p:nvPr/>
          </p:nvSpPr>
          <p:spPr>
            <a:xfrm>
              <a:off x="762000" y="59626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8910" name="TextBox 17"/>
            <p:cNvSpPr txBox="1"/>
            <p:nvPr/>
          </p:nvSpPr>
          <p:spPr>
            <a:xfrm>
              <a:off x="1022604" y="5867400"/>
              <a:ext cx="762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内墙效果图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9" name="interior-photo"/>
          <p:cNvGrpSpPr/>
          <p:nvPr/>
        </p:nvGrpSpPr>
        <p:grpSpPr>
          <a:xfrm>
            <a:off x="6857365" y="751840"/>
            <a:ext cx="4286885" cy="5439410"/>
            <a:chOff x="7524750" y="1714500"/>
            <a:chExt cx="3619500" cy="4476750"/>
          </a:xfrm>
        </p:grpSpPr>
        <p:pic>
          <p:nvPicPr>
            <p:cNvPr id="2097206" name="Image 19"/>
            <p:cNvPicPr>
              <a:picLocks noChangeAspect="1"/>
            </p:cNvPicPr>
            <p:nvPr/>
          </p:nvPicPr>
          <p:blipFill>
            <a:blip r:embed="rId2"/>
            <a:srcRect t="1194" b="1195"/>
            <a:stretch>
              <a:fillRect/>
            </a:stretch>
          </p:blipFill>
          <p:spPr>
            <a:xfrm>
              <a:off x="7524750" y="1714500"/>
              <a:ext cx="3619500" cy="4476750"/>
            </a:xfrm>
            <a:prstGeom prst="rect">
              <a:avLst/>
            </a:prstGeom>
          </p:spPr>
        </p:pic>
        <p:sp>
          <p:nvSpPr>
            <p:cNvPr id="1048911" name="Freeform 20"/>
            <p:cNvSpPr/>
            <p:nvPr/>
          </p:nvSpPr>
          <p:spPr>
            <a:xfrm>
              <a:off x="7524750" y="1714500"/>
              <a:ext cx="3619500" cy="4476750"/>
            </a:xfrm>
            <a:custGeom>
              <a:avLst/>
              <a:gdLst/>
              <a:ahLst/>
              <a:cxnLst/>
              <a:rect l="l" t="t" r="r" b="b"/>
              <a:pathLst>
                <a:path w="3619500" h="4476750">
                  <a:moveTo>
                    <a:pt x="0" y="0"/>
                  </a:moveTo>
                  <a:lnTo>
                    <a:pt x="3619500" y="0"/>
                  </a:lnTo>
                  <a:lnTo>
                    <a:pt x="3619500" y="4476750"/>
                  </a:lnTo>
                  <a:lnTo>
                    <a:pt x="0" y="4476750"/>
                  </a:lnTo>
                  <a:close/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0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912" name="Rectangle 22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913" name="TextBox 23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14" name="TextBox 24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27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7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917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64" name="page-title"/>
          <p:cNvGrpSpPr/>
          <p:nvPr/>
        </p:nvGrpSpPr>
        <p:grpSpPr>
          <a:xfrm>
            <a:off x="746760" y="622300"/>
            <a:ext cx="3360456" cy="892175"/>
            <a:chOff x="746760" y="622300"/>
            <a:chExt cx="3360456" cy="892175"/>
          </a:xfrm>
        </p:grpSpPr>
        <p:sp>
          <p:nvSpPr>
            <p:cNvPr id="1048918" name="TextBox 4"/>
            <p:cNvSpPr txBox="1"/>
            <p:nvPr/>
          </p:nvSpPr>
          <p:spPr>
            <a:xfrm>
              <a:off x="746760" y="622300"/>
              <a:ext cx="244738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外墙专用 20kg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19" name="TextBox 5"/>
            <p:cNvSpPr txBox="1"/>
            <p:nvPr/>
          </p:nvSpPr>
          <p:spPr>
            <a:xfrm>
              <a:off x="755904" y="1143000"/>
              <a:ext cx="3351312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BEST LAND Pure-Inorganic Coating New Material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20" name="Freeform 6"/>
            <p:cNvSpPr/>
            <p:nvPr/>
          </p:nvSpPr>
          <p:spPr>
            <a:xfrm>
              <a:off x="762000" y="15049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165" name="product-info"/>
          <p:cNvGrpSpPr/>
          <p:nvPr/>
        </p:nvGrpSpPr>
        <p:grpSpPr>
          <a:xfrm>
            <a:off x="751332" y="2012950"/>
            <a:ext cx="6297168" cy="3975100"/>
            <a:chOff x="751332" y="2012950"/>
            <a:chExt cx="6297168" cy="3975100"/>
          </a:xfrm>
        </p:grpSpPr>
        <p:sp>
          <p:nvSpPr>
            <p:cNvPr id="1048921" name="TextBox 8"/>
            <p:cNvSpPr txBox="1"/>
            <p:nvPr/>
          </p:nvSpPr>
          <p:spPr>
            <a:xfrm>
              <a:off x="751332" y="2012950"/>
              <a:ext cx="299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贝之然·纯无机涂料新材料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22" name="TextBox 9"/>
            <p:cNvSpPr txBox="1"/>
            <p:nvPr/>
          </p:nvSpPr>
          <p:spPr>
            <a:xfrm>
              <a:off x="754380" y="2489200"/>
              <a:ext cx="3195439" cy="2286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外墙专用　Waterproof Coating Series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23" name="Freeform 10"/>
            <p:cNvSpPr/>
            <p:nvPr/>
          </p:nvSpPr>
          <p:spPr>
            <a:xfrm>
              <a:off x="762000" y="3048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8924" name="TextBox 11"/>
            <p:cNvSpPr txBox="1"/>
            <p:nvPr/>
          </p:nvSpPr>
          <p:spPr>
            <a:xfrm>
              <a:off x="755904" y="333375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包装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25" name="TextBox 12"/>
            <p:cNvSpPr txBox="1"/>
            <p:nvPr/>
          </p:nvSpPr>
          <p:spPr>
            <a:xfrm>
              <a:off x="754380" y="3651250"/>
              <a:ext cx="10141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 kg / 包装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26" name="TextBox 13"/>
            <p:cNvSpPr txBox="1"/>
            <p:nvPr/>
          </p:nvSpPr>
          <p:spPr>
            <a:xfrm>
              <a:off x="755904" y="4191000"/>
              <a:ext cx="3048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施工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27" name="TextBox 14"/>
            <p:cNvSpPr txBox="1"/>
            <p:nvPr/>
          </p:nvSpPr>
          <p:spPr>
            <a:xfrm>
              <a:off x="754380" y="4508500"/>
              <a:ext cx="457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抗裂防水砂浆基面上直接喷涂两遍，免腻子、免底漆。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28" name="TextBox 15"/>
            <p:cNvSpPr txBox="1"/>
            <p:nvPr/>
          </p:nvSpPr>
          <p:spPr>
            <a:xfrm>
              <a:off x="755904" y="504825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适用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29" name="TextBox 16"/>
            <p:cNvSpPr txBox="1"/>
            <p:nvPr/>
          </p:nvSpPr>
          <p:spPr>
            <a:xfrm>
              <a:off x="754380" y="5365750"/>
              <a:ext cx="1905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新建外墙与旧墙改造。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30" name="Freeform 17"/>
            <p:cNvSpPr/>
            <p:nvPr/>
          </p:nvSpPr>
          <p:spPr>
            <a:xfrm>
              <a:off x="762000" y="59055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8931" name="TextBox 18"/>
            <p:cNvSpPr txBox="1"/>
            <p:nvPr/>
          </p:nvSpPr>
          <p:spPr>
            <a:xfrm>
              <a:off x="1022604" y="5810250"/>
              <a:ext cx="1371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天然环保　随刷随住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6" name="product-photo"/>
          <p:cNvGrpSpPr/>
          <p:nvPr/>
        </p:nvGrpSpPr>
        <p:grpSpPr>
          <a:xfrm>
            <a:off x="7614666" y="1809750"/>
            <a:ext cx="3624834" cy="4108450"/>
            <a:chOff x="7614666" y="1809750"/>
            <a:chExt cx="3624834" cy="4108450"/>
          </a:xfrm>
        </p:grpSpPr>
        <p:pic>
          <p:nvPicPr>
            <p:cNvPr id="2097208" name="Imag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0" y="1809750"/>
              <a:ext cx="3619500" cy="3619500"/>
            </a:xfrm>
            <a:prstGeom prst="rect">
              <a:avLst/>
            </a:prstGeom>
          </p:spPr>
        </p:pic>
        <p:sp>
          <p:nvSpPr>
            <p:cNvPr id="1048932" name="TextBox 21"/>
            <p:cNvSpPr txBox="1"/>
            <p:nvPr/>
          </p:nvSpPr>
          <p:spPr>
            <a:xfrm>
              <a:off x="7614666" y="5778500"/>
              <a:ext cx="125606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外墙专用 20 kg 产品图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7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933" name="Rectangle 23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934" name="TextBox 24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35" name="TextBox 25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28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9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938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71" name="page-title"/>
          <p:cNvGrpSpPr/>
          <p:nvPr/>
        </p:nvGrpSpPr>
        <p:grpSpPr>
          <a:xfrm>
            <a:off x="746760" y="622300"/>
            <a:ext cx="3590379" cy="892175"/>
            <a:chOff x="746760" y="622300"/>
            <a:chExt cx="3590379" cy="892175"/>
          </a:xfrm>
        </p:grpSpPr>
        <p:sp>
          <p:nvSpPr>
            <p:cNvPr id="1048939" name="TextBox 4"/>
            <p:cNvSpPr txBox="1"/>
            <p:nvPr/>
          </p:nvSpPr>
          <p:spPr>
            <a:xfrm>
              <a:off x="746760" y="622300"/>
              <a:ext cx="3590379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大众化工程内墙 20kg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40" name="TextBox 5"/>
            <p:cNvSpPr txBox="1"/>
            <p:nvPr/>
          </p:nvSpPr>
          <p:spPr>
            <a:xfrm>
              <a:off x="755904" y="1143000"/>
              <a:ext cx="2473623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Standard Commercial Interior Series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41" name="Freeform 6"/>
            <p:cNvSpPr/>
            <p:nvPr/>
          </p:nvSpPr>
          <p:spPr>
            <a:xfrm>
              <a:off x="762000" y="15049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172" name="product-info"/>
          <p:cNvGrpSpPr/>
          <p:nvPr/>
        </p:nvGrpSpPr>
        <p:grpSpPr>
          <a:xfrm>
            <a:off x="751332" y="2012950"/>
            <a:ext cx="6297168" cy="3975100"/>
            <a:chOff x="751332" y="2012950"/>
            <a:chExt cx="6297168" cy="3975100"/>
          </a:xfrm>
        </p:grpSpPr>
        <p:sp>
          <p:nvSpPr>
            <p:cNvPr id="1048942" name="TextBox 8"/>
            <p:cNvSpPr txBox="1"/>
            <p:nvPr/>
          </p:nvSpPr>
          <p:spPr>
            <a:xfrm>
              <a:off x="751332" y="2012950"/>
              <a:ext cx="299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贝之然·纯无机涂料新材料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43" name="TextBox 9"/>
            <p:cNvSpPr txBox="1"/>
            <p:nvPr/>
          </p:nvSpPr>
          <p:spPr>
            <a:xfrm>
              <a:off x="754380" y="2489200"/>
              <a:ext cx="2919115" cy="2286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大众化工程内墙专用　20 kg / 包装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44" name="Freeform 10"/>
            <p:cNvSpPr/>
            <p:nvPr/>
          </p:nvSpPr>
          <p:spPr>
            <a:xfrm>
              <a:off x="762000" y="3048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8945" name="TextBox 11"/>
            <p:cNvSpPr txBox="1"/>
            <p:nvPr/>
          </p:nvSpPr>
          <p:spPr>
            <a:xfrm>
              <a:off x="755904" y="333375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适用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46" name="TextBox 12"/>
            <p:cNvSpPr txBox="1"/>
            <p:nvPr/>
          </p:nvSpPr>
          <p:spPr>
            <a:xfrm>
              <a:off x="754380" y="3651250"/>
              <a:ext cx="2286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公司、厂房等大众化场景。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47" name="TextBox 13"/>
            <p:cNvSpPr txBox="1"/>
            <p:nvPr/>
          </p:nvSpPr>
          <p:spPr>
            <a:xfrm>
              <a:off x="755904" y="4191000"/>
              <a:ext cx="3048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定位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48" name="TextBox 14"/>
            <p:cNvSpPr txBox="1"/>
            <p:nvPr/>
          </p:nvSpPr>
          <p:spPr>
            <a:xfrm>
              <a:off x="754380" y="4508500"/>
              <a:ext cx="419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极致性价比系列，用最少成本获得品牌科技产品。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49" name="TextBox 15"/>
            <p:cNvSpPr txBox="1"/>
            <p:nvPr/>
          </p:nvSpPr>
          <p:spPr>
            <a:xfrm>
              <a:off x="755904" y="504825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共性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50" name="TextBox 16"/>
            <p:cNvSpPr txBox="1"/>
            <p:nvPr/>
          </p:nvSpPr>
          <p:spPr>
            <a:xfrm>
              <a:off x="754380" y="5365750"/>
              <a:ext cx="3429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无机体系，免腻子、免底漆，随刷随住。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51" name="Freeform 17"/>
            <p:cNvSpPr/>
            <p:nvPr/>
          </p:nvSpPr>
          <p:spPr>
            <a:xfrm>
              <a:off x="762000" y="59055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8952" name="TextBox 18"/>
            <p:cNvSpPr txBox="1"/>
            <p:nvPr/>
          </p:nvSpPr>
          <p:spPr>
            <a:xfrm>
              <a:off x="1022604" y="5810250"/>
              <a:ext cx="1371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天然环保　随刷随住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3" name="product-photo"/>
          <p:cNvGrpSpPr/>
          <p:nvPr/>
        </p:nvGrpSpPr>
        <p:grpSpPr>
          <a:xfrm>
            <a:off x="7614666" y="1809750"/>
            <a:ext cx="3624834" cy="4108450"/>
            <a:chOff x="7614666" y="1809750"/>
            <a:chExt cx="3624834" cy="4108450"/>
          </a:xfrm>
        </p:grpSpPr>
        <p:sp>
          <p:nvSpPr>
            <p:cNvPr id="1048953" name="Rectangle 20"/>
            <p:cNvSpPr/>
            <p:nvPr/>
          </p:nvSpPr>
          <p:spPr>
            <a:xfrm>
              <a:off x="7620000" y="1809750"/>
              <a:ext cx="3619500" cy="3619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2097210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5250" y="1905000"/>
              <a:ext cx="3429000" cy="3429000"/>
            </a:xfrm>
            <a:prstGeom prst="rect">
              <a:avLst/>
            </a:prstGeom>
          </p:spPr>
        </p:pic>
        <p:sp>
          <p:nvSpPr>
            <p:cNvPr id="1048954" name="TextBox 22"/>
            <p:cNvSpPr txBox="1"/>
            <p:nvPr/>
          </p:nvSpPr>
          <p:spPr>
            <a:xfrm>
              <a:off x="7614666" y="5778500"/>
              <a:ext cx="163706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大众化工程内墙 20 kg 产品图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4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955" name="Rectangle 24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956" name="TextBox 25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57" name="TextBox 26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30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1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960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78" name="page-title"/>
          <p:cNvGrpSpPr/>
          <p:nvPr/>
        </p:nvGrpSpPr>
        <p:grpSpPr>
          <a:xfrm>
            <a:off x="746760" y="622300"/>
            <a:ext cx="3209380" cy="892175"/>
            <a:chOff x="746760" y="622300"/>
            <a:chExt cx="3209380" cy="892175"/>
          </a:xfrm>
        </p:grpSpPr>
        <p:sp>
          <p:nvSpPr>
            <p:cNvPr id="1048961" name="TextBox 4"/>
            <p:cNvSpPr txBox="1"/>
            <p:nvPr/>
          </p:nvSpPr>
          <p:spPr>
            <a:xfrm>
              <a:off x="746760" y="622300"/>
              <a:ext cx="320938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政府工程内墙 20kg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62" name="TextBox 5"/>
            <p:cNvSpPr txBox="1"/>
            <p:nvPr/>
          </p:nvSpPr>
          <p:spPr>
            <a:xfrm>
              <a:off x="755904" y="1143000"/>
              <a:ext cx="2320479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Government Project Interior Series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63" name="Freeform 6"/>
            <p:cNvSpPr/>
            <p:nvPr/>
          </p:nvSpPr>
          <p:spPr>
            <a:xfrm>
              <a:off x="762000" y="15049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179" name="product-info"/>
          <p:cNvGrpSpPr/>
          <p:nvPr/>
        </p:nvGrpSpPr>
        <p:grpSpPr>
          <a:xfrm>
            <a:off x="751332" y="2012950"/>
            <a:ext cx="6297168" cy="3975100"/>
            <a:chOff x="751332" y="2012950"/>
            <a:chExt cx="6297168" cy="3975100"/>
          </a:xfrm>
        </p:grpSpPr>
        <p:sp>
          <p:nvSpPr>
            <p:cNvPr id="1048964" name="TextBox 8"/>
            <p:cNvSpPr txBox="1"/>
            <p:nvPr/>
          </p:nvSpPr>
          <p:spPr>
            <a:xfrm>
              <a:off x="751332" y="2012950"/>
              <a:ext cx="299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贝之然·纯无机涂料新材料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65" name="TextBox 9"/>
            <p:cNvSpPr txBox="1"/>
            <p:nvPr/>
          </p:nvSpPr>
          <p:spPr>
            <a:xfrm>
              <a:off x="754380" y="2489200"/>
              <a:ext cx="2728615" cy="2286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政府工程内墙系列　20 kg / 包装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66" name="Freeform 10"/>
            <p:cNvSpPr/>
            <p:nvPr/>
          </p:nvSpPr>
          <p:spPr>
            <a:xfrm>
              <a:off x="762000" y="3048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8967" name="TextBox 11"/>
            <p:cNvSpPr txBox="1"/>
            <p:nvPr/>
          </p:nvSpPr>
          <p:spPr>
            <a:xfrm>
              <a:off x="755904" y="333375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适用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68" name="TextBox 12"/>
            <p:cNvSpPr txBox="1"/>
            <p:nvPr/>
          </p:nvSpPr>
          <p:spPr>
            <a:xfrm>
              <a:off x="754380" y="3651250"/>
              <a:ext cx="457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学校、医院、部队、政府办公楼等高标准化公共场景。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69" name="TextBox 13"/>
            <p:cNvSpPr txBox="1"/>
            <p:nvPr/>
          </p:nvSpPr>
          <p:spPr>
            <a:xfrm>
              <a:off x="755904" y="4191000"/>
              <a:ext cx="3048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合规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70" name="TextBox 14"/>
            <p:cNvSpPr txBox="1"/>
            <p:nvPr/>
          </p:nvSpPr>
          <p:spPr>
            <a:xfrm>
              <a:off x="754380" y="4508500"/>
              <a:ext cx="3378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符合绿色建材加分项与 A1 级防火规范。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71" name="TextBox 15"/>
            <p:cNvSpPr txBox="1"/>
            <p:nvPr/>
          </p:nvSpPr>
          <p:spPr>
            <a:xfrm>
              <a:off x="755904" y="504825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共性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72" name="TextBox 16"/>
            <p:cNvSpPr txBox="1"/>
            <p:nvPr/>
          </p:nvSpPr>
          <p:spPr>
            <a:xfrm>
              <a:off x="754380" y="5365750"/>
              <a:ext cx="3797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食品级环保、抗菌防霉、耐擦洗 ≥10,000 次。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73" name="Freeform 17"/>
            <p:cNvSpPr/>
            <p:nvPr/>
          </p:nvSpPr>
          <p:spPr>
            <a:xfrm>
              <a:off x="762000" y="59055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8974" name="TextBox 18"/>
            <p:cNvSpPr txBox="1"/>
            <p:nvPr/>
          </p:nvSpPr>
          <p:spPr>
            <a:xfrm>
              <a:off x="1022604" y="5810250"/>
              <a:ext cx="1371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天然环保　随刷随住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0" name="product-photo"/>
          <p:cNvGrpSpPr/>
          <p:nvPr/>
        </p:nvGrpSpPr>
        <p:grpSpPr>
          <a:xfrm>
            <a:off x="7614666" y="1809750"/>
            <a:ext cx="3624834" cy="4108450"/>
            <a:chOff x="7614666" y="1809750"/>
            <a:chExt cx="3624834" cy="4108450"/>
          </a:xfrm>
        </p:grpSpPr>
        <p:sp>
          <p:nvSpPr>
            <p:cNvPr id="1048975" name="Rectangle 20"/>
            <p:cNvSpPr/>
            <p:nvPr/>
          </p:nvSpPr>
          <p:spPr>
            <a:xfrm>
              <a:off x="7620000" y="1809750"/>
              <a:ext cx="3619500" cy="3619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2097212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5250" y="1905000"/>
              <a:ext cx="3429000" cy="3429000"/>
            </a:xfrm>
            <a:prstGeom prst="rect">
              <a:avLst/>
            </a:prstGeom>
          </p:spPr>
        </p:pic>
        <p:sp>
          <p:nvSpPr>
            <p:cNvPr id="1048976" name="TextBox 22"/>
            <p:cNvSpPr txBox="1"/>
            <p:nvPr/>
          </p:nvSpPr>
          <p:spPr>
            <a:xfrm>
              <a:off x="7614666" y="5778500"/>
              <a:ext cx="151006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政府工程内墙 20 kg 产品图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1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977" name="Rectangle 24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978" name="TextBox 25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79" name="TextBox 26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32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3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982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85" name="page-title"/>
          <p:cNvGrpSpPr/>
          <p:nvPr/>
        </p:nvGrpSpPr>
        <p:grpSpPr>
          <a:xfrm>
            <a:off x="746760" y="622300"/>
            <a:ext cx="2491740" cy="892175"/>
            <a:chOff x="746760" y="622300"/>
            <a:chExt cx="2491740" cy="892175"/>
          </a:xfrm>
        </p:grpSpPr>
        <p:sp>
          <p:nvSpPr>
            <p:cNvPr id="1048983" name="TextBox 4"/>
            <p:cNvSpPr txBox="1"/>
            <p:nvPr/>
          </p:nvSpPr>
          <p:spPr>
            <a:xfrm>
              <a:off x="746760" y="622300"/>
              <a:ext cx="244738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家装内墙 10kg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84" name="TextBox 5"/>
            <p:cNvSpPr txBox="1"/>
            <p:nvPr/>
          </p:nvSpPr>
          <p:spPr>
            <a:xfrm>
              <a:off x="755904" y="1143000"/>
              <a:ext cx="17145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Residential Interior Series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85" name="Freeform 6"/>
            <p:cNvSpPr/>
            <p:nvPr/>
          </p:nvSpPr>
          <p:spPr>
            <a:xfrm>
              <a:off x="762000" y="15049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186" name="product-info"/>
          <p:cNvGrpSpPr/>
          <p:nvPr/>
        </p:nvGrpSpPr>
        <p:grpSpPr>
          <a:xfrm>
            <a:off x="751332" y="2012950"/>
            <a:ext cx="6297168" cy="3975100"/>
            <a:chOff x="751332" y="2012950"/>
            <a:chExt cx="6297168" cy="3975100"/>
          </a:xfrm>
        </p:grpSpPr>
        <p:sp>
          <p:nvSpPr>
            <p:cNvPr id="1048986" name="TextBox 8"/>
            <p:cNvSpPr txBox="1"/>
            <p:nvPr/>
          </p:nvSpPr>
          <p:spPr>
            <a:xfrm>
              <a:off x="751332" y="2012950"/>
              <a:ext cx="299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贝之然·纯无机涂料新材料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87" name="TextBox 9"/>
            <p:cNvSpPr txBox="1"/>
            <p:nvPr/>
          </p:nvSpPr>
          <p:spPr>
            <a:xfrm>
              <a:off x="754380" y="2489200"/>
              <a:ext cx="2347615" cy="2286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家装内墙系列　10 kg / 包装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88" name="Freeform 10"/>
            <p:cNvSpPr/>
            <p:nvPr/>
          </p:nvSpPr>
          <p:spPr>
            <a:xfrm>
              <a:off x="762000" y="3048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8989" name="TextBox 11"/>
            <p:cNvSpPr txBox="1"/>
            <p:nvPr/>
          </p:nvSpPr>
          <p:spPr>
            <a:xfrm>
              <a:off x="755904" y="333375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适用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90" name="TextBox 12"/>
            <p:cNvSpPr txBox="1"/>
            <p:nvPr/>
          </p:nvSpPr>
          <p:spPr>
            <a:xfrm>
              <a:off x="754380" y="3651250"/>
              <a:ext cx="419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家庭、豪宅、别墅、酒店会所等高品质生活场景。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91" name="TextBox 13"/>
            <p:cNvSpPr txBox="1"/>
            <p:nvPr/>
          </p:nvSpPr>
          <p:spPr>
            <a:xfrm>
              <a:off x="755904" y="4191000"/>
              <a:ext cx="3048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特点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92" name="TextBox 14"/>
            <p:cNvSpPr txBox="1"/>
            <p:nvPr/>
          </p:nvSpPr>
          <p:spPr>
            <a:xfrm>
              <a:off x="754380" y="4508500"/>
              <a:ext cx="3478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随刷随住、负氧离子释放、VOC 未检出。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93" name="TextBox 15"/>
            <p:cNvSpPr txBox="1"/>
            <p:nvPr/>
          </p:nvSpPr>
          <p:spPr>
            <a:xfrm>
              <a:off x="755904" y="504825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质感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94" name="TextBox 16"/>
            <p:cNvSpPr txBox="1"/>
            <p:nvPr/>
          </p:nvSpPr>
          <p:spPr>
            <a:xfrm>
              <a:off x="754380" y="5365750"/>
              <a:ext cx="3238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陶瓷级硬度，可食品接触的安全等级。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95" name="Freeform 17"/>
            <p:cNvSpPr/>
            <p:nvPr/>
          </p:nvSpPr>
          <p:spPr>
            <a:xfrm>
              <a:off x="762000" y="59055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8996" name="TextBox 18"/>
            <p:cNvSpPr txBox="1"/>
            <p:nvPr/>
          </p:nvSpPr>
          <p:spPr>
            <a:xfrm>
              <a:off x="1022604" y="5810250"/>
              <a:ext cx="1371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天然环保　随刷随住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7" name="product-photo"/>
          <p:cNvGrpSpPr/>
          <p:nvPr/>
        </p:nvGrpSpPr>
        <p:grpSpPr>
          <a:xfrm>
            <a:off x="7614666" y="1809750"/>
            <a:ext cx="3624834" cy="4108450"/>
            <a:chOff x="7614666" y="1809750"/>
            <a:chExt cx="3624834" cy="4108450"/>
          </a:xfrm>
        </p:grpSpPr>
        <p:sp>
          <p:nvSpPr>
            <p:cNvPr id="1048997" name="Rectangle 20"/>
            <p:cNvSpPr/>
            <p:nvPr/>
          </p:nvSpPr>
          <p:spPr>
            <a:xfrm>
              <a:off x="7620000" y="1809750"/>
              <a:ext cx="3619500" cy="3619500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</p:sp>
        <p:sp>
          <p:nvSpPr>
            <p:cNvPr id="1048998" name="TextBox 22"/>
            <p:cNvSpPr txBox="1"/>
            <p:nvPr/>
          </p:nvSpPr>
          <p:spPr>
            <a:xfrm>
              <a:off x="7614666" y="5778500"/>
              <a:ext cx="125606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家装内墙 10 kg 产品图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8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999" name="Rectangle 24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9000" name="TextBox 25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01" name="TextBox 26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34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4" name="Imag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5388" y="0"/>
            <a:ext cx="9801225" cy="6534150"/>
          </a:xfrm>
          <a:prstGeom prst="rect">
            <a:avLst/>
          </a:prstGeom>
        </p:spPr>
      </p:pic>
      <p:sp>
        <p:nvSpPr>
          <p:cNvPr id="1049004" name="Freeform 3"/>
          <p:cNvSpPr/>
          <p:nvPr/>
        </p:nvSpPr>
        <p:spPr>
          <a:xfrm>
            <a:off x="1195388" y="0"/>
            <a:ext cx="9801225" cy="6534150"/>
          </a:xfrm>
          <a:custGeom>
            <a:avLst/>
            <a:gdLst/>
            <a:ahLst/>
            <a:cxnLst/>
            <a:rect l="l" t="t" r="r" b="b"/>
            <a:pathLst>
              <a:path w="9801225" h="6534150">
                <a:moveTo>
                  <a:pt x="0" y="0"/>
                </a:moveTo>
                <a:lnTo>
                  <a:pt x="9801225" y="0"/>
                </a:lnTo>
                <a:lnTo>
                  <a:pt x="9801225" y="6534150"/>
                </a:lnTo>
                <a:lnTo>
                  <a:pt x="0" y="6534150"/>
                </a:lnTo>
                <a:close/>
              </a:path>
            </a:pathLst>
          </a:custGeom>
          <a:noFill/>
          <a:ln w="9525">
            <a:solidFill>
              <a:srgbClr val="D8D2C6"/>
            </a:solidFill>
          </a:ln>
        </p:spPr>
      </p:sp>
      <p:sp>
        <p:nvSpPr>
          <p:cNvPr id="1049005" name="Rectangle 4"/>
          <p:cNvSpPr/>
          <p:nvPr/>
        </p:nvSpPr>
        <p:spPr>
          <a:xfrm>
            <a:off x="0" y="6534150"/>
            <a:ext cx="12192000" cy="323850"/>
          </a:xfrm>
          <a:prstGeom prst="rect">
            <a:avLst/>
          </a:prstGeom>
          <a:solidFill>
            <a:srgbClr val="1F3A44"/>
          </a:solidFill>
          <a:ln>
            <a:noFill/>
          </a:ln>
        </p:spPr>
      </p:sp>
      <p:sp>
        <p:nvSpPr>
          <p:cNvPr id="1049006" name="TextBox 5"/>
          <p:cNvSpPr txBox="1"/>
          <p:nvPr/>
        </p:nvSpPr>
        <p:spPr>
          <a:xfrm>
            <a:off x="598932" y="6616700"/>
            <a:ext cx="1791841" cy="1397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0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贝之然 BEST LAND · 纯无机涂料</a:t>
            </a:r>
            <a:endParaRPr lang="zh-CN" sz="10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49007" name="TextBox 6"/>
          <p:cNvSpPr txBox="1"/>
          <p:nvPr/>
        </p:nvSpPr>
        <p:spPr>
          <a:xfrm>
            <a:off x="10702688" y="6616700"/>
            <a:ext cx="787400" cy="1397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r"/>
            <a:r>
              <a:rPr lang="zh-CN" sz="10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宣传海报 1 / 4</a:t>
            </a:r>
            <a:endParaRPr lang="zh-CN" sz="10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5" name="Imag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5388" y="0"/>
            <a:ext cx="9801225" cy="6534150"/>
          </a:xfrm>
          <a:prstGeom prst="rect">
            <a:avLst/>
          </a:prstGeom>
        </p:spPr>
      </p:pic>
      <p:sp>
        <p:nvSpPr>
          <p:cNvPr id="1049010" name="Freeform 3"/>
          <p:cNvSpPr/>
          <p:nvPr/>
        </p:nvSpPr>
        <p:spPr>
          <a:xfrm>
            <a:off x="1195388" y="0"/>
            <a:ext cx="9801225" cy="6534150"/>
          </a:xfrm>
          <a:custGeom>
            <a:avLst/>
            <a:gdLst/>
            <a:ahLst/>
            <a:cxnLst/>
            <a:rect l="l" t="t" r="r" b="b"/>
            <a:pathLst>
              <a:path w="9801225" h="6534150">
                <a:moveTo>
                  <a:pt x="0" y="0"/>
                </a:moveTo>
                <a:lnTo>
                  <a:pt x="9801225" y="0"/>
                </a:lnTo>
                <a:lnTo>
                  <a:pt x="9801225" y="6534150"/>
                </a:lnTo>
                <a:lnTo>
                  <a:pt x="0" y="6534150"/>
                </a:lnTo>
                <a:close/>
              </a:path>
            </a:pathLst>
          </a:custGeom>
          <a:noFill/>
          <a:ln w="9525">
            <a:solidFill>
              <a:srgbClr val="D8D2C6"/>
            </a:solidFill>
          </a:ln>
        </p:spPr>
      </p:sp>
      <p:sp>
        <p:nvSpPr>
          <p:cNvPr id="1049011" name="Rectangle 4"/>
          <p:cNvSpPr/>
          <p:nvPr/>
        </p:nvSpPr>
        <p:spPr>
          <a:xfrm>
            <a:off x="0" y="6534150"/>
            <a:ext cx="12192000" cy="323850"/>
          </a:xfrm>
          <a:prstGeom prst="rect">
            <a:avLst/>
          </a:prstGeom>
          <a:solidFill>
            <a:srgbClr val="1F3A44"/>
          </a:solidFill>
          <a:ln>
            <a:noFill/>
          </a:ln>
        </p:spPr>
      </p:sp>
      <p:sp>
        <p:nvSpPr>
          <p:cNvPr id="1049012" name="TextBox 5"/>
          <p:cNvSpPr txBox="1"/>
          <p:nvPr/>
        </p:nvSpPr>
        <p:spPr>
          <a:xfrm>
            <a:off x="598932" y="6616700"/>
            <a:ext cx="1791841" cy="1397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0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贝之然 BEST LAND · 纯无机涂料</a:t>
            </a:r>
            <a:endParaRPr lang="zh-CN" sz="10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49013" name="TextBox 6"/>
          <p:cNvSpPr txBox="1"/>
          <p:nvPr/>
        </p:nvSpPr>
        <p:spPr>
          <a:xfrm>
            <a:off x="10702688" y="6616700"/>
            <a:ext cx="787400" cy="1397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r"/>
            <a:r>
              <a:rPr lang="zh-CN" sz="10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宣传海报 2 / 4</a:t>
            </a:r>
            <a:endParaRPr lang="zh-CN" sz="10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6" name="Imag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5388" y="0"/>
            <a:ext cx="9801225" cy="6534150"/>
          </a:xfrm>
          <a:prstGeom prst="rect">
            <a:avLst/>
          </a:prstGeom>
        </p:spPr>
      </p:pic>
      <p:sp>
        <p:nvSpPr>
          <p:cNvPr id="1049016" name="Freeform 3"/>
          <p:cNvSpPr/>
          <p:nvPr/>
        </p:nvSpPr>
        <p:spPr>
          <a:xfrm>
            <a:off x="1195388" y="0"/>
            <a:ext cx="9801225" cy="6534150"/>
          </a:xfrm>
          <a:custGeom>
            <a:avLst/>
            <a:gdLst/>
            <a:ahLst/>
            <a:cxnLst/>
            <a:rect l="l" t="t" r="r" b="b"/>
            <a:pathLst>
              <a:path w="9801225" h="6534150">
                <a:moveTo>
                  <a:pt x="0" y="0"/>
                </a:moveTo>
                <a:lnTo>
                  <a:pt x="9801225" y="0"/>
                </a:lnTo>
                <a:lnTo>
                  <a:pt x="9801225" y="6534150"/>
                </a:lnTo>
                <a:lnTo>
                  <a:pt x="0" y="6534150"/>
                </a:lnTo>
                <a:close/>
              </a:path>
            </a:pathLst>
          </a:custGeom>
          <a:noFill/>
          <a:ln w="9525">
            <a:solidFill>
              <a:srgbClr val="D8D2C6"/>
            </a:solidFill>
          </a:ln>
        </p:spPr>
      </p:sp>
      <p:sp>
        <p:nvSpPr>
          <p:cNvPr id="1049017" name="Rectangle 4"/>
          <p:cNvSpPr/>
          <p:nvPr/>
        </p:nvSpPr>
        <p:spPr>
          <a:xfrm>
            <a:off x="0" y="6534150"/>
            <a:ext cx="12192000" cy="323850"/>
          </a:xfrm>
          <a:prstGeom prst="rect">
            <a:avLst/>
          </a:prstGeom>
          <a:solidFill>
            <a:srgbClr val="1F3A44"/>
          </a:solidFill>
          <a:ln>
            <a:noFill/>
          </a:ln>
        </p:spPr>
      </p:sp>
      <p:sp>
        <p:nvSpPr>
          <p:cNvPr id="1049018" name="TextBox 5"/>
          <p:cNvSpPr txBox="1"/>
          <p:nvPr/>
        </p:nvSpPr>
        <p:spPr>
          <a:xfrm>
            <a:off x="598932" y="6616700"/>
            <a:ext cx="1791841" cy="1397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0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贝之然 BEST LAND · 纯无机涂料</a:t>
            </a:r>
            <a:endParaRPr lang="zh-CN" sz="10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49019" name="TextBox 6"/>
          <p:cNvSpPr txBox="1"/>
          <p:nvPr/>
        </p:nvSpPr>
        <p:spPr>
          <a:xfrm>
            <a:off x="10702688" y="6616700"/>
            <a:ext cx="787400" cy="1397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r"/>
            <a:r>
              <a:rPr lang="zh-CN" sz="10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宣传海报 3 / 4</a:t>
            </a:r>
            <a:endParaRPr lang="zh-CN" sz="10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8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9028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204" name="page-title"/>
          <p:cNvGrpSpPr/>
          <p:nvPr/>
        </p:nvGrpSpPr>
        <p:grpSpPr>
          <a:xfrm>
            <a:off x="746760" y="622300"/>
            <a:ext cx="2110740" cy="892175"/>
            <a:chOff x="746760" y="622300"/>
            <a:chExt cx="2110740" cy="892175"/>
          </a:xfrm>
        </p:grpSpPr>
        <p:sp>
          <p:nvSpPr>
            <p:cNvPr id="1049029" name="TextBox 4"/>
            <p:cNvSpPr txBox="1"/>
            <p:nvPr/>
          </p:nvSpPr>
          <p:spPr>
            <a:xfrm>
              <a:off x="746760" y="622300"/>
              <a:ext cx="185048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儿童房 5kg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30" name="TextBox 5"/>
            <p:cNvSpPr txBox="1"/>
            <p:nvPr/>
          </p:nvSpPr>
          <p:spPr>
            <a:xfrm>
              <a:off x="755904" y="1143000"/>
              <a:ext cx="12192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Kids' Room Series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31" name="Freeform 6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205" name="product-info"/>
          <p:cNvGrpSpPr/>
          <p:nvPr/>
        </p:nvGrpSpPr>
        <p:grpSpPr>
          <a:xfrm>
            <a:off x="751332" y="2012950"/>
            <a:ext cx="6297168" cy="3975100"/>
            <a:chOff x="751332" y="2012950"/>
            <a:chExt cx="6297168" cy="3975100"/>
          </a:xfrm>
        </p:grpSpPr>
        <p:sp>
          <p:nvSpPr>
            <p:cNvPr id="1049032" name="TextBox 8"/>
            <p:cNvSpPr txBox="1"/>
            <p:nvPr/>
          </p:nvSpPr>
          <p:spPr>
            <a:xfrm>
              <a:off x="751332" y="2012950"/>
              <a:ext cx="299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贝之然·纯无机涂料新材料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33" name="TextBox 9"/>
            <p:cNvSpPr txBox="1"/>
            <p:nvPr/>
          </p:nvSpPr>
          <p:spPr>
            <a:xfrm>
              <a:off x="754380" y="2489200"/>
              <a:ext cx="2055515" cy="2286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儿童房系列　5 kg / 包装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34" name="Freeform 10"/>
            <p:cNvSpPr/>
            <p:nvPr/>
          </p:nvSpPr>
          <p:spPr>
            <a:xfrm>
              <a:off x="762000" y="3048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9035" name="TextBox 11"/>
            <p:cNvSpPr txBox="1"/>
            <p:nvPr/>
          </p:nvSpPr>
          <p:spPr>
            <a:xfrm>
              <a:off x="755904" y="3333750"/>
              <a:ext cx="609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安全等级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36" name="TextBox 12"/>
            <p:cNvSpPr txBox="1"/>
            <p:nvPr/>
          </p:nvSpPr>
          <p:spPr>
            <a:xfrm>
              <a:off x="754380" y="3651250"/>
              <a:ext cx="2286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食品级零污染，抗菌防霉。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37" name="TextBox 13"/>
            <p:cNvSpPr txBox="1"/>
            <p:nvPr/>
          </p:nvSpPr>
          <p:spPr>
            <a:xfrm>
              <a:off x="755904" y="4191000"/>
              <a:ext cx="6096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耐水擦洗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38" name="TextBox 14"/>
            <p:cNvSpPr txBox="1"/>
            <p:nvPr/>
          </p:nvSpPr>
          <p:spPr>
            <a:xfrm>
              <a:off x="754380" y="4508500"/>
              <a:ext cx="3314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可擦洗 &gt;10,000 次，A1 级防火无烟气。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39" name="TextBox 15"/>
            <p:cNvSpPr txBox="1"/>
            <p:nvPr/>
          </p:nvSpPr>
          <p:spPr>
            <a:xfrm>
              <a:off x="755904" y="504825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入住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40" name="TextBox 16"/>
            <p:cNvSpPr txBox="1"/>
            <p:nvPr/>
          </p:nvSpPr>
          <p:spPr>
            <a:xfrm>
              <a:off x="754380" y="5365750"/>
              <a:ext cx="26670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当天刷当天住，不用空置散味。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41" name="Freeform 17"/>
            <p:cNvSpPr/>
            <p:nvPr/>
          </p:nvSpPr>
          <p:spPr>
            <a:xfrm>
              <a:off x="762000" y="59055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9042" name="TextBox 18"/>
            <p:cNvSpPr txBox="1"/>
            <p:nvPr/>
          </p:nvSpPr>
          <p:spPr>
            <a:xfrm>
              <a:off x="1022604" y="5810250"/>
              <a:ext cx="1371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天然环保　随刷随住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6" name="product-photo"/>
          <p:cNvGrpSpPr/>
          <p:nvPr/>
        </p:nvGrpSpPr>
        <p:grpSpPr>
          <a:xfrm>
            <a:off x="7614666" y="1809750"/>
            <a:ext cx="3624834" cy="4108450"/>
            <a:chOff x="7614666" y="1809750"/>
            <a:chExt cx="3624834" cy="4108450"/>
          </a:xfrm>
        </p:grpSpPr>
        <p:sp>
          <p:nvSpPr>
            <p:cNvPr id="1049043" name="Rectangle 20"/>
            <p:cNvSpPr/>
            <p:nvPr/>
          </p:nvSpPr>
          <p:spPr>
            <a:xfrm>
              <a:off x="7620000" y="1809750"/>
              <a:ext cx="3619500" cy="3619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2097219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5250" y="1905000"/>
              <a:ext cx="3429000" cy="3429000"/>
            </a:xfrm>
            <a:prstGeom prst="rect">
              <a:avLst/>
            </a:prstGeom>
          </p:spPr>
        </p:pic>
        <p:sp>
          <p:nvSpPr>
            <p:cNvPr id="1049044" name="TextBox 22"/>
            <p:cNvSpPr txBox="1"/>
            <p:nvPr/>
          </p:nvSpPr>
          <p:spPr>
            <a:xfrm>
              <a:off x="7614666" y="5778500"/>
              <a:ext cx="105286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儿童房 5 kg 产品图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7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9045" name="Rectangle 24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9046" name="TextBox 25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47" name="TextBox 26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36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20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9050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211" name="page-title"/>
          <p:cNvGrpSpPr/>
          <p:nvPr/>
        </p:nvGrpSpPr>
        <p:grpSpPr>
          <a:xfrm>
            <a:off x="746760" y="622300"/>
            <a:ext cx="2491740" cy="892175"/>
            <a:chOff x="746760" y="622300"/>
            <a:chExt cx="2491740" cy="892175"/>
          </a:xfrm>
        </p:grpSpPr>
        <p:sp>
          <p:nvSpPr>
            <p:cNvPr id="1049051" name="TextBox 4"/>
            <p:cNvSpPr txBox="1"/>
            <p:nvPr/>
          </p:nvSpPr>
          <p:spPr>
            <a:xfrm>
              <a:off x="746760" y="622300"/>
              <a:ext cx="244738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无机底固 25kg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52" name="TextBox 5"/>
            <p:cNvSpPr txBox="1"/>
            <p:nvPr/>
          </p:nvSpPr>
          <p:spPr>
            <a:xfrm>
              <a:off x="755904" y="1143000"/>
              <a:ext cx="1838623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Inorganic Undercoat Series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53" name="Freeform 6"/>
            <p:cNvSpPr/>
            <p:nvPr/>
          </p:nvSpPr>
          <p:spPr>
            <a:xfrm>
              <a:off x="762000" y="15049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212" name="product-info"/>
          <p:cNvGrpSpPr/>
          <p:nvPr/>
        </p:nvGrpSpPr>
        <p:grpSpPr>
          <a:xfrm>
            <a:off x="751332" y="2012950"/>
            <a:ext cx="6297168" cy="3975100"/>
            <a:chOff x="751332" y="2012950"/>
            <a:chExt cx="6297168" cy="3975100"/>
          </a:xfrm>
        </p:grpSpPr>
        <p:sp>
          <p:nvSpPr>
            <p:cNvPr id="1049054" name="TextBox 8"/>
            <p:cNvSpPr txBox="1"/>
            <p:nvPr/>
          </p:nvSpPr>
          <p:spPr>
            <a:xfrm>
              <a:off x="751332" y="2012950"/>
              <a:ext cx="299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贝之然·纯无机涂料新材料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55" name="TextBox 9"/>
            <p:cNvSpPr txBox="1"/>
            <p:nvPr/>
          </p:nvSpPr>
          <p:spPr>
            <a:xfrm>
              <a:off x="754380" y="2489200"/>
              <a:ext cx="2347615" cy="2286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无机底固系列　25 kg / 包装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56" name="Freeform 10"/>
            <p:cNvSpPr/>
            <p:nvPr/>
          </p:nvSpPr>
          <p:spPr>
            <a:xfrm>
              <a:off x="762000" y="3048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9057" name="TextBox 11"/>
            <p:cNvSpPr txBox="1"/>
            <p:nvPr/>
          </p:nvSpPr>
          <p:spPr>
            <a:xfrm>
              <a:off x="755904" y="333375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替代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58" name="TextBox 12"/>
            <p:cNvSpPr txBox="1"/>
            <p:nvPr/>
          </p:nvSpPr>
          <p:spPr>
            <a:xfrm>
              <a:off x="754380" y="3651250"/>
              <a:ext cx="1905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替代易粉化的腻子粉。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59" name="TextBox 13"/>
            <p:cNvSpPr txBox="1"/>
            <p:nvPr/>
          </p:nvSpPr>
          <p:spPr>
            <a:xfrm>
              <a:off x="755904" y="4191000"/>
              <a:ext cx="3048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机理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60" name="TextBox 14"/>
            <p:cNvSpPr txBox="1"/>
            <p:nvPr/>
          </p:nvSpPr>
          <p:spPr>
            <a:xfrm>
              <a:off x="754380" y="4508500"/>
              <a:ext cx="3238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与水泥基面发生石化反应，越老越硬。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61" name="TextBox 15"/>
            <p:cNvSpPr txBox="1"/>
            <p:nvPr/>
          </p:nvSpPr>
          <p:spPr>
            <a:xfrm>
              <a:off x="755904" y="504825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结果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62" name="TextBox 16"/>
            <p:cNvSpPr txBox="1"/>
            <p:nvPr/>
          </p:nvSpPr>
          <p:spPr>
            <a:xfrm>
              <a:off x="754380" y="5365750"/>
              <a:ext cx="381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终身不空鼓、不起皮，一道搞定找平与加固。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63" name="Freeform 17"/>
            <p:cNvSpPr/>
            <p:nvPr/>
          </p:nvSpPr>
          <p:spPr>
            <a:xfrm>
              <a:off x="762000" y="59055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9064" name="TextBox 18"/>
            <p:cNvSpPr txBox="1"/>
            <p:nvPr/>
          </p:nvSpPr>
          <p:spPr>
            <a:xfrm>
              <a:off x="1022604" y="5810250"/>
              <a:ext cx="1371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天然环保　随刷随住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3" name="product-photo"/>
          <p:cNvGrpSpPr/>
          <p:nvPr/>
        </p:nvGrpSpPr>
        <p:grpSpPr>
          <a:xfrm>
            <a:off x="7614666" y="1841500"/>
            <a:ext cx="3624834" cy="4076700"/>
            <a:chOff x="7614666" y="1841500"/>
            <a:chExt cx="3624834" cy="4076700"/>
          </a:xfrm>
        </p:grpSpPr>
        <p:sp>
          <p:nvSpPr>
            <p:cNvPr id="1049065" name="Rectangle 20"/>
            <p:cNvSpPr/>
            <p:nvPr/>
          </p:nvSpPr>
          <p:spPr>
            <a:xfrm>
              <a:off x="7620000" y="1841500"/>
              <a:ext cx="3619500" cy="3619500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066" name="TextBox 22"/>
            <p:cNvSpPr txBox="1"/>
            <p:nvPr/>
          </p:nvSpPr>
          <p:spPr>
            <a:xfrm>
              <a:off x="7614666" y="5778500"/>
              <a:ext cx="125606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无机底固 25 kg 产品图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4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9067" name="Rectangle 24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9068" name="TextBox 25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69" name="TextBox 26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38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21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9072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218" name="page-title"/>
          <p:cNvGrpSpPr/>
          <p:nvPr/>
        </p:nvGrpSpPr>
        <p:grpSpPr>
          <a:xfrm>
            <a:off x="746760" y="622300"/>
            <a:ext cx="3590379" cy="892175"/>
            <a:chOff x="746760" y="622300"/>
            <a:chExt cx="3590379" cy="892175"/>
          </a:xfrm>
        </p:grpSpPr>
        <p:sp>
          <p:nvSpPr>
            <p:cNvPr id="1049073" name="TextBox 4"/>
            <p:cNvSpPr txBox="1"/>
            <p:nvPr/>
          </p:nvSpPr>
          <p:spPr>
            <a:xfrm>
              <a:off x="746760" y="622300"/>
              <a:ext cx="3590379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天冬聚脲地坪漆 20kg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74" name="TextBox 5"/>
            <p:cNvSpPr txBox="1"/>
            <p:nvPr/>
          </p:nvSpPr>
          <p:spPr>
            <a:xfrm>
              <a:off x="755904" y="1143000"/>
              <a:ext cx="1205657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Floor Paint Series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75" name="Freeform 6"/>
            <p:cNvSpPr/>
            <p:nvPr/>
          </p:nvSpPr>
          <p:spPr>
            <a:xfrm>
              <a:off x="762000" y="15049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219" name="product-info"/>
          <p:cNvGrpSpPr/>
          <p:nvPr/>
        </p:nvGrpSpPr>
        <p:grpSpPr>
          <a:xfrm>
            <a:off x="751332" y="2012950"/>
            <a:ext cx="6297168" cy="3975100"/>
            <a:chOff x="751332" y="2012950"/>
            <a:chExt cx="6297168" cy="3975100"/>
          </a:xfrm>
        </p:grpSpPr>
        <p:sp>
          <p:nvSpPr>
            <p:cNvPr id="1049076" name="TextBox 8"/>
            <p:cNvSpPr txBox="1"/>
            <p:nvPr/>
          </p:nvSpPr>
          <p:spPr>
            <a:xfrm>
              <a:off x="751332" y="2012950"/>
              <a:ext cx="299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贝之然·纯无机涂料新材料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77" name="TextBox 9"/>
            <p:cNvSpPr txBox="1"/>
            <p:nvPr/>
          </p:nvSpPr>
          <p:spPr>
            <a:xfrm>
              <a:off x="754380" y="2489200"/>
              <a:ext cx="2919115" cy="2286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天冬聚脲地坪漆系列　20 kg / 包装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78" name="Freeform 10"/>
            <p:cNvSpPr/>
            <p:nvPr/>
          </p:nvSpPr>
          <p:spPr>
            <a:xfrm>
              <a:off x="762000" y="3048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9079" name="TextBox 11"/>
            <p:cNvSpPr txBox="1"/>
            <p:nvPr/>
          </p:nvSpPr>
          <p:spPr>
            <a:xfrm>
              <a:off x="755904" y="333375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配方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80" name="TextBox 12"/>
            <p:cNvSpPr txBox="1"/>
            <p:nvPr/>
          </p:nvSpPr>
          <p:spPr>
            <a:xfrm>
              <a:off x="754380" y="3651250"/>
              <a:ext cx="2335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天冬纯聚脲配方，零 VOC。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81" name="TextBox 13"/>
            <p:cNvSpPr txBox="1"/>
            <p:nvPr/>
          </p:nvSpPr>
          <p:spPr>
            <a:xfrm>
              <a:off x="755904" y="4191000"/>
              <a:ext cx="3048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性能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82" name="TextBox 14"/>
            <p:cNvSpPr txBox="1"/>
            <p:nvPr/>
          </p:nvSpPr>
          <p:spPr>
            <a:xfrm>
              <a:off x="754380" y="4508500"/>
              <a:ext cx="2209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耐磨抗划、耐黄变 30 年。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83" name="TextBox 15"/>
            <p:cNvSpPr txBox="1"/>
            <p:nvPr/>
          </p:nvSpPr>
          <p:spPr>
            <a:xfrm>
              <a:off x="755904" y="504825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成型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84" name="TextBox 16"/>
            <p:cNvSpPr txBox="1"/>
            <p:nvPr/>
          </p:nvSpPr>
          <p:spPr>
            <a:xfrm>
              <a:off x="754380" y="5365750"/>
              <a:ext cx="1905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无缝一体，防滑静音。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85" name="Freeform 17"/>
            <p:cNvSpPr/>
            <p:nvPr/>
          </p:nvSpPr>
          <p:spPr>
            <a:xfrm>
              <a:off x="762000" y="59055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9086" name="TextBox 18"/>
            <p:cNvSpPr txBox="1"/>
            <p:nvPr/>
          </p:nvSpPr>
          <p:spPr>
            <a:xfrm>
              <a:off x="1022604" y="5810250"/>
              <a:ext cx="24384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家用车库、厂房车间的「地坪铠甲」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0" name="product-photo"/>
          <p:cNvGrpSpPr/>
          <p:nvPr/>
        </p:nvGrpSpPr>
        <p:grpSpPr>
          <a:xfrm>
            <a:off x="7614666" y="1809750"/>
            <a:ext cx="3624834" cy="4108450"/>
            <a:chOff x="7614666" y="1809750"/>
            <a:chExt cx="3624834" cy="4108450"/>
          </a:xfrm>
        </p:grpSpPr>
        <p:sp>
          <p:nvSpPr>
            <p:cNvPr id="1049087" name="Rectangle 20"/>
            <p:cNvSpPr/>
            <p:nvPr/>
          </p:nvSpPr>
          <p:spPr>
            <a:xfrm>
              <a:off x="7620000" y="1809750"/>
              <a:ext cx="3619500" cy="3619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2097222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5250" y="1905000"/>
              <a:ext cx="3429000" cy="3429000"/>
            </a:xfrm>
            <a:prstGeom prst="rect">
              <a:avLst/>
            </a:prstGeom>
          </p:spPr>
        </p:pic>
        <p:sp>
          <p:nvSpPr>
            <p:cNvPr id="1049088" name="TextBox 22"/>
            <p:cNvSpPr txBox="1"/>
            <p:nvPr/>
          </p:nvSpPr>
          <p:spPr>
            <a:xfrm>
              <a:off x="7614666" y="5778500"/>
              <a:ext cx="163706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天冬聚脲地坪漆 20 kg 产品图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1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9089" name="Rectangle 24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9090" name="TextBox 25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91" name="TextBox 26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40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23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9094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225" name="page-title"/>
          <p:cNvGrpSpPr/>
          <p:nvPr/>
        </p:nvGrpSpPr>
        <p:grpSpPr>
          <a:xfrm>
            <a:off x="746760" y="622300"/>
            <a:ext cx="3253740" cy="892175"/>
            <a:chOff x="746760" y="622300"/>
            <a:chExt cx="3253740" cy="892175"/>
          </a:xfrm>
        </p:grpSpPr>
        <p:sp>
          <p:nvSpPr>
            <p:cNvPr id="1049095" name="TextBox 4"/>
            <p:cNvSpPr txBox="1"/>
            <p:nvPr/>
          </p:nvSpPr>
          <p:spPr>
            <a:xfrm>
              <a:off x="746760" y="622300"/>
              <a:ext cx="320938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天冬聚脲防水 20kg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96" name="TextBox 5"/>
            <p:cNvSpPr txBox="1"/>
            <p:nvPr/>
          </p:nvSpPr>
          <p:spPr>
            <a:xfrm>
              <a:off x="755904" y="1143000"/>
              <a:ext cx="1799432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Waterproof Coating Series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97" name="Freeform 6"/>
            <p:cNvSpPr/>
            <p:nvPr/>
          </p:nvSpPr>
          <p:spPr>
            <a:xfrm>
              <a:off x="762000" y="15049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226" name="product-info"/>
          <p:cNvGrpSpPr/>
          <p:nvPr/>
        </p:nvGrpSpPr>
        <p:grpSpPr>
          <a:xfrm>
            <a:off x="751332" y="2012950"/>
            <a:ext cx="6297168" cy="3975100"/>
            <a:chOff x="751332" y="2012950"/>
            <a:chExt cx="6297168" cy="3975100"/>
          </a:xfrm>
        </p:grpSpPr>
        <p:sp>
          <p:nvSpPr>
            <p:cNvPr id="1049098" name="TextBox 8"/>
            <p:cNvSpPr txBox="1"/>
            <p:nvPr/>
          </p:nvSpPr>
          <p:spPr>
            <a:xfrm>
              <a:off x="751332" y="2012950"/>
              <a:ext cx="299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贝之然·纯无机涂料新材料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099" name="TextBox 9"/>
            <p:cNvSpPr txBox="1"/>
            <p:nvPr/>
          </p:nvSpPr>
          <p:spPr>
            <a:xfrm>
              <a:off x="754380" y="2489200"/>
              <a:ext cx="3109615" cy="2286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天冬聚脲防水涂料系列　20 kg / 包装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00" name="Freeform 10"/>
            <p:cNvSpPr/>
            <p:nvPr/>
          </p:nvSpPr>
          <p:spPr>
            <a:xfrm>
              <a:off x="762000" y="3048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9101" name="TextBox 11"/>
            <p:cNvSpPr txBox="1"/>
            <p:nvPr/>
          </p:nvSpPr>
          <p:spPr>
            <a:xfrm>
              <a:off x="755904" y="333375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技术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02" name="TextBox 12"/>
            <p:cNvSpPr txBox="1"/>
            <p:nvPr/>
          </p:nvSpPr>
          <p:spPr>
            <a:xfrm>
              <a:off x="754380" y="3651250"/>
              <a:ext cx="3263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天冬纯聚脲技术，断裂伸长率 ≥300%。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03" name="TextBox 13"/>
            <p:cNvSpPr txBox="1"/>
            <p:nvPr/>
          </p:nvSpPr>
          <p:spPr>
            <a:xfrm>
              <a:off x="755904" y="4191000"/>
              <a:ext cx="3048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耐压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04" name="TextBox 14"/>
            <p:cNvSpPr txBox="1"/>
            <p:nvPr/>
          </p:nvSpPr>
          <p:spPr>
            <a:xfrm>
              <a:off x="754380" y="4508500"/>
              <a:ext cx="28945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涂膜 1 mm 即可耐 0.5 MPa 水压。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05" name="TextBox 15"/>
            <p:cNvSpPr txBox="1"/>
            <p:nvPr/>
          </p:nvSpPr>
          <p:spPr>
            <a:xfrm>
              <a:off x="755904" y="504825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低温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06" name="TextBox 16"/>
            <p:cNvSpPr txBox="1"/>
            <p:nvPr/>
          </p:nvSpPr>
          <p:spPr>
            <a:xfrm>
              <a:off x="754380" y="5365750"/>
              <a:ext cx="1663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-30 ℃ 弯折无裂纹。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07" name="Freeform 17"/>
            <p:cNvSpPr/>
            <p:nvPr/>
          </p:nvSpPr>
          <p:spPr>
            <a:xfrm>
              <a:off x="762000" y="59055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9108" name="TextBox 18"/>
            <p:cNvSpPr txBox="1"/>
            <p:nvPr/>
          </p:nvSpPr>
          <p:spPr>
            <a:xfrm>
              <a:off x="1022604" y="5810250"/>
              <a:ext cx="29591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屋顶、泳池、地下室：一次涂刷，30 年不漏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7" name="product-photo"/>
          <p:cNvGrpSpPr/>
          <p:nvPr/>
        </p:nvGrpSpPr>
        <p:grpSpPr>
          <a:xfrm>
            <a:off x="7614666" y="1809750"/>
            <a:ext cx="3624834" cy="4108450"/>
            <a:chOff x="7614666" y="1809750"/>
            <a:chExt cx="3624834" cy="4108450"/>
          </a:xfrm>
        </p:grpSpPr>
        <p:sp>
          <p:nvSpPr>
            <p:cNvPr id="1049109" name="Rectangle 20"/>
            <p:cNvSpPr/>
            <p:nvPr/>
          </p:nvSpPr>
          <p:spPr>
            <a:xfrm>
              <a:off x="7620000" y="1809750"/>
              <a:ext cx="3619500" cy="3619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2097224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5250" y="1905000"/>
              <a:ext cx="3429000" cy="3429000"/>
            </a:xfrm>
            <a:prstGeom prst="rect">
              <a:avLst/>
            </a:prstGeom>
          </p:spPr>
        </p:pic>
        <p:sp>
          <p:nvSpPr>
            <p:cNvPr id="1049110" name="TextBox 22"/>
            <p:cNvSpPr txBox="1"/>
            <p:nvPr/>
          </p:nvSpPr>
          <p:spPr>
            <a:xfrm>
              <a:off x="7614666" y="5778500"/>
              <a:ext cx="151006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天冬聚脲防水 20 kg 产品图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8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9111" name="Rectangle 24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9112" name="TextBox 25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13" name="TextBox 26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42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25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9116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232" name="page-title"/>
          <p:cNvGrpSpPr/>
          <p:nvPr/>
        </p:nvGrpSpPr>
        <p:grpSpPr>
          <a:xfrm>
            <a:off x="746760" y="622300"/>
            <a:ext cx="2682240" cy="892175"/>
            <a:chOff x="746760" y="622300"/>
            <a:chExt cx="2682240" cy="892175"/>
          </a:xfrm>
        </p:grpSpPr>
        <p:sp>
          <p:nvSpPr>
            <p:cNvPr id="1049117" name="TextBox 4"/>
            <p:cNvSpPr txBox="1"/>
            <p:nvPr/>
          </p:nvSpPr>
          <p:spPr>
            <a:xfrm>
              <a:off x="746760" y="622300"/>
              <a:ext cx="152400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抗污罩面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18" name="TextBox 5"/>
            <p:cNvSpPr txBox="1"/>
            <p:nvPr/>
          </p:nvSpPr>
          <p:spPr>
            <a:xfrm>
              <a:off x="755904" y="1143000"/>
              <a:ext cx="157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Anti-Stain Finish Series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19" name="Freeform 6"/>
            <p:cNvSpPr/>
            <p:nvPr/>
          </p:nvSpPr>
          <p:spPr>
            <a:xfrm>
              <a:off x="762000" y="15049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233" name="product-info"/>
          <p:cNvGrpSpPr/>
          <p:nvPr/>
        </p:nvGrpSpPr>
        <p:grpSpPr>
          <a:xfrm>
            <a:off x="751332" y="2012950"/>
            <a:ext cx="6297168" cy="3975100"/>
            <a:chOff x="751332" y="2012950"/>
            <a:chExt cx="6297168" cy="3975100"/>
          </a:xfrm>
        </p:grpSpPr>
        <p:sp>
          <p:nvSpPr>
            <p:cNvPr id="1049120" name="TextBox 8"/>
            <p:cNvSpPr txBox="1"/>
            <p:nvPr/>
          </p:nvSpPr>
          <p:spPr>
            <a:xfrm>
              <a:off x="751332" y="2012950"/>
              <a:ext cx="299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贝之然·纯无机涂料新材料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21" name="TextBox 9"/>
            <p:cNvSpPr txBox="1"/>
            <p:nvPr/>
          </p:nvSpPr>
          <p:spPr>
            <a:xfrm>
              <a:off x="754380" y="2489200"/>
              <a:ext cx="15240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抗污罩面系列包装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22" name="Freeform 10"/>
            <p:cNvSpPr/>
            <p:nvPr/>
          </p:nvSpPr>
          <p:spPr>
            <a:xfrm>
              <a:off x="762000" y="3048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9123" name="TextBox 11"/>
            <p:cNvSpPr txBox="1"/>
            <p:nvPr/>
          </p:nvSpPr>
          <p:spPr>
            <a:xfrm>
              <a:off x="755904" y="333375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成膜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24" name="TextBox 12"/>
            <p:cNvSpPr txBox="1"/>
            <p:nvPr/>
          </p:nvSpPr>
          <p:spPr>
            <a:xfrm>
              <a:off x="754380" y="3651250"/>
              <a:ext cx="2286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一刷形成「自洁玻璃」膜。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25" name="TextBox 13"/>
            <p:cNvSpPr txBox="1"/>
            <p:nvPr/>
          </p:nvSpPr>
          <p:spPr>
            <a:xfrm>
              <a:off x="755904" y="4191000"/>
              <a:ext cx="3048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抗污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26" name="TextBox 14"/>
            <p:cNvSpPr txBox="1"/>
            <p:nvPr/>
          </p:nvSpPr>
          <p:spPr>
            <a:xfrm>
              <a:off x="754380" y="4508500"/>
              <a:ext cx="2476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酱油、口红、涂鸦湿巾即净。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27" name="TextBox 15"/>
            <p:cNvSpPr txBox="1"/>
            <p:nvPr/>
          </p:nvSpPr>
          <p:spPr>
            <a:xfrm>
              <a:off x="755904" y="504825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耐久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28" name="TextBox 16"/>
            <p:cNvSpPr txBox="1"/>
            <p:nvPr/>
          </p:nvSpPr>
          <p:spPr>
            <a:xfrm>
              <a:off x="754380" y="5365750"/>
              <a:ext cx="3124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3,000 h 日晒不黄变，十年抗污如新。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29" name="Freeform 17"/>
            <p:cNvSpPr/>
            <p:nvPr/>
          </p:nvSpPr>
          <p:spPr>
            <a:xfrm>
              <a:off x="762000" y="59055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9130" name="TextBox 18"/>
            <p:cNvSpPr txBox="1"/>
            <p:nvPr/>
          </p:nvSpPr>
          <p:spPr>
            <a:xfrm>
              <a:off x="1022604" y="5810250"/>
              <a:ext cx="2551708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A1 防火、食品级零 VOC，内外墙通用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4" name="product-photo"/>
          <p:cNvGrpSpPr/>
          <p:nvPr/>
        </p:nvGrpSpPr>
        <p:grpSpPr>
          <a:xfrm>
            <a:off x="7614666" y="1809750"/>
            <a:ext cx="3624834" cy="4108450"/>
            <a:chOff x="7614666" y="1809750"/>
            <a:chExt cx="3624834" cy="4108450"/>
          </a:xfrm>
        </p:grpSpPr>
        <p:sp>
          <p:nvSpPr>
            <p:cNvPr id="1049131" name="Rectangle 20"/>
            <p:cNvSpPr/>
            <p:nvPr/>
          </p:nvSpPr>
          <p:spPr>
            <a:xfrm>
              <a:off x="7620000" y="1809750"/>
              <a:ext cx="3619500" cy="3619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2097226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5250" y="1905000"/>
              <a:ext cx="3429000" cy="3429000"/>
            </a:xfrm>
            <a:prstGeom prst="rect">
              <a:avLst/>
            </a:prstGeom>
          </p:spPr>
        </p:pic>
        <p:sp>
          <p:nvSpPr>
            <p:cNvPr id="1049132" name="TextBox 22"/>
            <p:cNvSpPr txBox="1"/>
            <p:nvPr/>
          </p:nvSpPr>
          <p:spPr>
            <a:xfrm>
              <a:off x="7614666" y="5778500"/>
              <a:ext cx="125606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抗污罩面 20 kg 产品图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5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9133" name="Rectangle 24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9134" name="TextBox 25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35" name="TextBox 26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44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27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9138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239" name="page-title"/>
          <p:cNvGrpSpPr/>
          <p:nvPr/>
        </p:nvGrpSpPr>
        <p:grpSpPr>
          <a:xfrm>
            <a:off x="746760" y="622300"/>
            <a:ext cx="2301240" cy="892175"/>
            <a:chOff x="746760" y="622300"/>
            <a:chExt cx="2301240" cy="892175"/>
          </a:xfrm>
        </p:grpSpPr>
        <p:sp>
          <p:nvSpPr>
            <p:cNvPr id="1049139" name="TextBox 4"/>
            <p:cNvSpPr txBox="1"/>
            <p:nvPr/>
          </p:nvSpPr>
          <p:spPr>
            <a:xfrm>
              <a:off x="746760" y="622300"/>
              <a:ext cx="114300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界面剂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40" name="TextBox 5"/>
            <p:cNvSpPr txBox="1"/>
            <p:nvPr/>
          </p:nvSpPr>
          <p:spPr>
            <a:xfrm>
              <a:off x="755904" y="1143000"/>
              <a:ext cx="1486992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Interface Agent Series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41" name="Freeform 6"/>
            <p:cNvSpPr/>
            <p:nvPr/>
          </p:nvSpPr>
          <p:spPr>
            <a:xfrm>
              <a:off x="762000" y="15049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240" name="product-info"/>
          <p:cNvGrpSpPr/>
          <p:nvPr/>
        </p:nvGrpSpPr>
        <p:grpSpPr>
          <a:xfrm>
            <a:off x="751332" y="2012950"/>
            <a:ext cx="6297168" cy="3975100"/>
            <a:chOff x="751332" y="2012950"/>
            <a:chExt cx="6297168" cy="3975100"/>
          </a:xfrm>
        </p:grpSpPr>
        <p:sp>
          <p:nvSpPr>
            <p:cNvPr id="1049142" name="TextBox 8"/>
            <p:cNvSpPr txBox="1"/>
            <p:nvPr/>
          </p:nvSpPr>
          <p:spPr>
            <a:xfrm>
              <a:off x="751332" y="2012950"/>
              <a:ext cx="299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贝之然·纯无机涂料新材料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43" name="TextBox 9"/>
            <p:cNvSpPr txBox="1"/>
            <p:nvPr/>
          </p:nvSpPr>
          <p:spPr>
            <a:xfrm>
              <a:off x="754380" y="2489200"/>
              <a:ext cx="13335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界面剂系列包装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44" name="Freeform 10"/>
            <p:cNvSpPr/>
            <p:nvPr/>
          </p:nvSpPr>
          <p:spPr>
            <a:xfrm>
              <a:off x="762000" y="3048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9145" name="TextBox 11"/>
            <p:cNvSpPr txBox="1"/>
            <p:nvPr/>
          </p:nvSpPr>
          <p:spPr>
            <a:xfrm>
              <a:off x="755904" y="333375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成分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46" name="TextBox 12"/>
            <p:cNvSpPr txBox="1"/>
            <p:nvPr/>
          </p:nvSpPr>
          <p:spPr>
            <a:xfrm>
              <a:off x="754380" y="3651250"/>
              <a:ext cx="17145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纳米硅酸盐渗透液。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47" name="TextBox 13"/>
            <p:cNvSpPr txBox="1"/>
            <p:nvPr/>
          </p:nvSpPr>
          <p:spPr>
            <a:xfrm>
              <a:off x="755904" y="4191000"/>
              <a:ext cx="3048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渗透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48" name="TextBox 14"/>
            <p:cNvSpPr txBox="1"/>
            <p:nvPr/>
          </p:nvSpPr>
          <p:spPr>
            <a:xfrm>
              <a:off x="754380" y="4508500"/>
              <a:ext cx="3314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深入基层 ≥5 mm，拉拔强度提升 3 倍。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49" name="TextBox 15"/>
            <p:cNvSpPr txBox="1"/>
            <p:nvPr/>
          </p:nvSpPr>
          <p:spPr>
            <a:xfrm>
              <a:off x="755904" y="504825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作用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50" name="TextBox 16"/>
            <p:cNvSpPr txBox="1"/>
            <p:nvPr/>
          </p:nvSpPr>
          <p:spPr>
            <a:xfrm>
              <a:off x="754380" y="5365750"/>
              <a:ext cx="3238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让旧墙、瓷砖、混凝土「石化一体」。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51" name="Freeform 17"/>
            <p:cNvSpPr/>
            <p:nvPr/>
          </p:nvSpPr>
          <p:spPr>
            <a:xfrm>
              <a:off x="762000" y="59055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9152" name="TextBox 18"/>
            <p:cNvSpPr txBox="1"/>
            <p:nvPr/>
          </p:nvSpPr>
          <p:spPr>
            <a:xfrm>
              <a:off x="1022604" y="5810250"/>
              <a:ext cx="1524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杜绝空鼓、起皮、掉砖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1" name="product-photo"/>
          <p:cNvGrpSpPr/>
          <p:nvPr/>
        </p:nvGrpSpPr>
        <p:grpSpPr>
          <a:xfrm>
            <a:off x="7614666" y="1809750"/>
            <a:ext cx="3624834" cy="4108450"/>
            <a:chOff x="7614666" y="1809750"/>
            <a:chExt cx="3624834" cy="4108450"/>
          </a:xfrm>
        </p:grpSpPr>
        <p:sp>
          <p:nvSpPr>
            <p:cNvPr id="1049153" name="Rectangle 20"/>
            <p:cNvSpPr/>
            <p:nvPr/>
          </p:nvSpPr>
          <p:spPr>
            <a:xfrm>
              <a:off x="7620000" y="1809750"/>
              <a:ext cx="3619500" cy="3619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2097228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5250" y="1905000"/>
              <a:ext cx="3429000" cy="3429000"/>
            </a:xfrm>
            <a:prstGeom prst="rect">
              <a:avLst/>
            </a:prstGeom>
          </p:spPr>
        </p:pic>
        <p:sp>
          <p:nvSpPr>
            <p:cNvPr id="1049154" name="TextBox 22"/>
            <p:cNvSpPr txBox="1"/>
            <p:nvPr/>
          </p:nvSpPr>
          <p:spPr>
            <a:xfrm>
              <a:off x="7614666" y="5778500"/>
              <a:ext cx="112906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界面剂 20 kg 产品图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2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9155" name="Rectangle 24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9156" name="TextBox 25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57" name="TextBox 26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46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brand-logo"/>
          <p:cNvGrpSpPr/>
          <p:nvPr/>
        </p:nvGrpSpPr>
        <p:grpSpPr>
          <a:xfrm>
            <a:off x="914400" y="838200"/>
            <a:ext cx="2171700" cy="1066800"/>
            <a:chOff x="914400" y="838200"/>
            <a:chExt cx="2171700" cy="1066800"/>
          </a:xfrm>
        </p:grpSpPr>
        <p:sp>
          <p:nvSpPr>
            <p:cNvPr id="1049160" name="Rectangle 2"/>
            <p:cNvSpPr/>
            <p:nvPr/>
          </p:nvSpPr>
          <p:spPr>
            <a:xfrm>
              <a:off x="914400" y="838200"/>
              <a:ext cx="2171700" cy="1066800"/>
            </a:xfrm>
            <a:prstGeom prst="roundRect">
              <a:avLst>
                <a:gd name="adj" fmla="val 5357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2097229" name="Image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90600" y="928020"/>
              <a:ext cx="2019300" cy="887160"/>
            </a:xfrm>
            <a:prstGeom prst="rect">
              <a:avLst/>
            </a:prstGeom>
          </p:spPr>
        </p:pic>
      </p:grpSp>
      <p:sp>
        <p:nvSpPr>
          <p:cNvPr id="1049161" name="section-orange"/>
          <p:cNvSpPr/>
          <p:nvPr/>
        </p:nvSpPr>
        <p:spPr>
          <a:xfrm>
            <a:off x="7810500" y="0"/>
            <a:ext cx="4381500" cy="6858000"/>
          </a:xfrm>
          <a:custGeom>
            <a:avLst/>
            <a:gdLst/>
            <a:ahLst/>
            <a:cxnLst/>
            <a:rect l="l" t="t" r="r" b="b"/>
            <a:pathLst>
              <a:path w="4381500" h="6858000">
                <a:moveTo>
                  <a:pt x="0" y="0"/>
                </a:moveTo>
                <a:lnTo>
                  <a:pt x="4381500" y="0"/>
                </a:lnTo>
                <a:lnTo>
                  <a:pt x="4381500" y="6858000"/>
                </a:lnTo>
                <a:lnTo>
                  <a:pt x="171450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049162" name="section-light"/>
          <p:cNvSpPr/>
          <p:nvPr/>
        </p:nvSpPr>
        <p:spPr>
          <a:xfrm>
            <a:off x="7239000" y="0"/>
            <a:ext cx="1962150" cy="6858000"/>
          </a:xfrm>
          <a:custGeom>
            <a:avLst/>
            <a:gdLst/>
            <a:ahLst/>
            <a:cxnLst/>
            <a:rect l="l" t="t" r="r" b="b"/>
            <a:pathLst>
              <a:path w="1962150" h="6858000">
                <a:moveTo>
                  <a:pt x="0" y="0"/>
                </a:moveTo>
                <a:lnTo>
                  <a:pt x="247650" y="0"/>
                </a:lnTo>
                <a:lnTo>
                  <a:pt x="1962150" y="6858000"/>
                </a:lnTo>
                <a:lnTo>
                  <a:pt x="1714500" y="6858000"/>
                </a:lnTo>
                <a:close/>
              </a:path>
            </a:pathLst>
          </a:custGeom>
          <a:solidFill>
            <a:schemeClr val="lt2">
              <a:alpha val="25000"/>
            </a:schemeClr>
          </a:solidFill>
          <a:ln>
            <a:noFill/>
          </a:ln>
        </p:spPr>
      </p:sp>
      <p:grpSp>
        <p:nvGrpSpPr>
          <p:cNvPr id="247" name="section-title"/>
          <p:cNvGrpSpPr/>
          <p:nvPr/>
        </p:nvGrpSpPr>
        <p:grpSpPr>
          <a:xfrm>
            <a:off x="895350" y="2857500"/>
            <a:ext cx="2743200" cy="1781175"/>
            <a:chOff x="895350" y="2857500"/>
            <a:chExt cx="2743200" cy="1781175"/>
          </a:xfrm>
        </p:grpSpPr>
        <p:sp>
          <p:nvSpPr>
            <p:cNvPr id="1049163" name="TextBox 7"/>
            <p:cNvSpPr txBox="1"/>
            <p:nvPr/>
          </p:nvSpPr>
          <p:spPr>
            <a:xfrm>
              <a:off x="908304" y="2857500"/>
              <a:ext cx="847378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PART 05</a:t>
              </a:r>
              <a:endParaRPr lang="en-US" sz="1200" spc="3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64" name="TextBox 8"/>
            <p:cNvSpPr txBox="1"/>
            <p:nvPr/>
          </p:nvSpPr>
          <p:spPr>
            <a:xfrm>
              <a:off x="895350" y="3302000"/>
              <a:ext cx="2743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5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政策支持</a:t>
              </a:r>
              <a:endParaRPr lang="zh-CN" sz="5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65" name="TextBox 9"/>
            <p:cNvSpPr txBox="1"/>
            <p:nvPr/>
          </p:nvSpPr>
          <p:spPr>
            <a:xfrm>
              <a:off x="908304" y="4191000"/>
              <a:ext cx="2053878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spc="1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POLICY &amp; PARTNERSHIP</a:t>
              </a:r>
              <a:endParaRPr lang="en-US" sz="1200" spc="150" dirty="0">
                <a:solidFill>
                  <a:srgbClr val="F4F1E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66" name="Freeform 10"/>
            <p:cNvSpPr/>
            <p:nvPr/>
          </p:nvSpPr>
          <p:spPr>
            <a:xfrm>
              <a:off x="914400" y="462915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sp>
        <p:nvSpPr>
          <p:cNvPr id="1049167" name="TextBox 12"/>
          <p:cNvSpPr txBox="1"/>
          <p:nvPr/>
        </p:nvSpPr>
        <p:spPr>
          <a:xfrm>
            <a:off x="906780" y="51181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500" dirty="0">
                <a:solidFill>
                  <a:srgbClr val="F4F1EA"/>
                </a:solidFill>
                <a:latin typeface="+mn-lt"/>
                <a:ea typeface="+mn-ea"/>
                <a:cs typeface="+mn-cs"/>
              </a:rPr>
              <a:t>国家层面的绿色建筑与防火强条，正在把无机涂料推成必选项；</a:t>
            </a:r>
            <a:endParaRPr lang="zh-CN" sz="1500" dirty="0">
              <a:solidFill>
                <a:srgbClr val="F4F1EA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8" name="footer"/>
          <p:cNvGrpSpPr/>
          <p:nvPr/>
        </p:nvGrpSpPr>
        <p:grpSpPr>
          <a:xfrm>
            <a:off x="604266" y="6616700"/>
            <a:ext cx="10905674" cy="139700"/>
            <a:chOff x="604266" y="6616700"/>
            <a:chExt cx="10905674" cy="139700"/>
          </a:xfrm>
        </p:grpSpPr>
        <p:sp>
          <p:nvSpPr>
            <p:cNvPr id="1049168" name="TextBox 15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4F1E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69" name="TextBox 16"/>
            <p:cNvSpPr txBox="1"/>
            <p:nvPr/>
          </p:nvSpPr>
          <p:spPr>
            <a:xfrm>
              <a:off x="11103540" y="6616700"/>
              <a:ext cx="40640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48 / 79</a:t>
              </a:r>
              <a:endParaRPr lang="zh-CN" sz="1050" dirty="0">
                <a:solidFill>
                  <a:srgbClr val="F4F1EA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30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9172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252" name="page-title"/>
          <p:cNvGrpSpPr/>
          <p:nvPr/>
        </p:nvGrpSpPr>
        <p:grpSpPr>
          <a:xfrm>
            <a:off x="746760" y="622300"/>
            <a:ext cx="3429000" cy="892175"/>
            <a:chOff x="746760" y="622300"/>
            <a:chExt cx="3429000" cy="892175"/>
          </a:xfrm>
        </p:grpSpPr>
        <p:sp>
          <p:nvSpPr>
            <p:cNvPr id="1049173" name="TextBox 4"/>
            <p:cNvSpPr txBox="1"/>
            <p:nvPr/>
          </p:nvSpPr>
          <p:spPr>
            <a:xfrm>
              <a:off x="746760" y="622300"/>
              <a:ext cx="3429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纯无机涂料政策导向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74" name="TextBox 5"/>
            <p:cNvSpPr txBox="1"/>
            <p:nvPr/>
          </p:nvSpPr>
          <p:spPr>
            <a:xfrm>
              <a:off x="755904" y="1143000"/>
              <a:ext cx="2991892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Policy Direction for Pure Inorganic Coatings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75" name="Freeform 6"/>
            <p:cNvSpPr/>
            <p:nvPr/>
          </p:nvSpPr>
          <p:spPr>
            <a:xfrm>
              <a:off x="762000" y="15049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253" name="policy-intro"/>
          <p:cNvGrpSpPr/>
          <p:nvPr/>
        </p:nvGrpSpPr>
        <p:grpSpPr>
          <a:xfrm>
            <a:off x="754380" y="1765300"/>
            <a:ext cx="7825740" cy="579120"/>
            <a:chOff x="754380" y="1765300"/>
            <a:chExt cx="7825740" cy="579120"/>
          </a:xfrm>
        </p:grpSpPr>
        <p:sp>
          <p:nvSpPr>
            <p:cNvPr id="1049176" name="TextBox 8"/>
            <p:cNvSpPr txBox="1"/>
            <p:nvPr/>
          </p:nvSpPr>
          <p:spPr>
            <a:xfrm>
              <a:off x="754380" y="1765300"/>
              <a:ext cx="782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国家层面通过一系列环保、节能与绿色建筑政策，针对内外墙涂料环保难达标、耐水耐刷难、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防火等级不高、耐老化时间短的行业痛点，正在大力推动纯无机涂料的应用。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4" name="policy-items"/>
          <p:cNvGrpSpPr/>
          <p:nvPr/>
        </p:nvGrpSpPr>
        <p:grpSpPr>
          <a:xfrm>
            <a:off x="754380" y="2832100"/>
            <a:ext cx="4800600" cy="2914651"/>
            <a:chOff x="754380" y="2832100"/>
            <a:chExt cx="4800600" cy="2914651"/>
          </a:xfrm>
        </p:grpSpPr>
        <p:sp>
          <p:nvSpPr>
            <p:cNvPr id="1049177" name="TextBox 10"/>
            <p:cNvSpPr txBox="1"/>
            <p:nvPr/>
          </p:nvSpPr>
          <p:spPr>
            <a:xfrm>
              <a:off x="754380" y="2838450"/>
              <a:ext cx="2032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78" name="TextBox 11"/>
            <p:cNvSpPr txBox="1"/>
            <p:nvPr/>
          </p:nvSpPr>
          <p:spPr>
            <a:xfrm>
              <a:off x="1249680" y="2832100"/>
              <a:ext cx="381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《「十四五」建筑节能与绿色建筑发展规划》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79" name="TextBox 12"/>
            <p:cNvSpPr txBox="1"/>
            <p:nvPr/>
          </p:nvSpPr>
          <p:spPr>
            <a:xfrm>
              <a:off x="1251966" y="3149600"/>
              <a:ext cx="40513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到 2025 年新建建筑全面执行绿色建筑标准，绿色建材应用比例超过 70%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80" name="TextBox 13"/>
            <p:cNvSpPr txBox="1"/>
            <p:nvPr/>
          </p:nvSpPr>
          <p:spPr>
            <a:xfrm>
              <a:off x="754380" y="3657600"/>
              <a:ext cx="203201" cy="2286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81" name="TextBox 14"/>
            <p:cNvSpPr txBox="1"/>
            <p:nvPr/>
          </p:nvSpPr>
          <p:spPr>
            <a:xfrm>
              <a:off x="1249680" y="3651250"/>
              <a:ext cx="3238500" cy="2286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《绿色建材产业高质量发展实施方案》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82" name="TextBox 15"/>
            <p:cNvSpPr txBox="1"/>
            <p:nvPr/>
          </p:nvSpPr>
          <p:spPr>
            <a:xfrm>
              <a:off x="1251966" y="3968750"/>
              <a:ext cx="37084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 年新建建筑无机涂料使用比例 ≥30%，明确点名加快推广应用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83" name="TextBox 16"/>
            <p:cNvSpPr txBox="1"/>
            <p:nvPr/>
          </p:nvSpPr>
          <p:spPr>
            <a:xfrm>
              <a:off x="754380" y="4476750"/>
              <a:ext cx="2032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84" name="TextBox 17"/>
            <p:cNvSpPr txBox="1"/>
            <p:nvPr/>
          </p:nvSpPr>
          <p:spPr>
            <a:xfrm>
              <a:off x="1249680" y="4470400"/>
              <a:ext cx="4305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《建筑防火通用规范》GB 55037-2022（全文强制）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85" name="TextBox 18"/>
            <p:cNvSpPr txBox="1"/>
            <p:nvPr/>
          </p:nvSpPr>
          <p:spPr>
            <a:xfrm>
              <a:off x="1251966" y="4787900"/>
              <a:ext cx="31877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人员密集场所顶棚与墙面装饰材料燃烧性能必须达到 A 级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86" name="TextBox 19"/>
            <p:cNvSpPr txBox="1"/>
            <p:nvPr/>
          </p:nvSpPr>
          <p:spPr>
            <a:xfrm>
              <a:off x="754380" y="5295900"/>
              <a:ext cx="2032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87" name="TextBox 20"/>
            <p:cNvSpPr txBox="1"/>
            <p:nvPr/>
          </p:nvSpPr>
          <p:spPr>
            <a:xfrm>
              <a:off x="1249680" y="5289550"/>
              <a:ext cx="3238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《绿色建材产业高质量发展行动方案》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88" name="TextBox 21"/>
            <p:cNvSpPr txBox="1"/>
            <p:nvPr/>
          </p:nvSpPr>
          <p:spPr>
            <a:xfrm>
              <a:off x="1251966" y="5607050"/>
              <a:ext cx="29210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推动涂料行业向水性、粉末、无机等环保型产品发展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5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9189" name="Rectangle 23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9190" name="TextBox 24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91" name="TextBox 25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49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31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9194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259" name="page-title"/>
          <p:cNvGrpSpPr/>
          <p:nvPr/>
        </p:nvGrpSpPr>
        <p:grpSpPr>
          <a:xfrm>
            <a:off x="746760" y="622300"/>
            <a:ext cx="3324969" cy="892175"/>
            <a:chOff x="746760" y="622300"/>
            <a:chExt cx="3324969" cy="892175"/>
          </a:xfrm>
        </p:grpSpPr>
        <p:sp>
          <p:nvSpPr>
            <p:cNvPr id="1049195" name="TextBox 4"/>
            <p:cNvSpPr txBox="1"/>
            <p:nvPr/>
          </p:nvSpPr>
          <p:spPr>
            <a:xfrm>
              <a:off x="746760" y="622300"/>
              <a:ext cx="3324969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VOCs 减排政策导向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96" name="TextBox 5"/>
            <p:cNvSpPr txBox="1"/>
            <p:nvPr/>
          </p:nvSpPr>
          <p:spPr>
            <a:xfrm>
              <a:off x="755904" y="1143000"/>
              <a:ext cx="2206377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VOCs-Reduction Policy Direction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97" name="Freeform 6"/>
            <p:cNvSpPr/>
            <p:nvPr/>
          </p:nvSpPr>
          <p:spPr>
            <a:xfrm>
              <a:off x="762000" y="15049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260" name="voc-items"/>
          <p:cNvGrpSpPr/>
          <p:nvPr/>
        </p:nvGrpSpPr>
        <p:grpSpPr>
          <a:xfrm>
            <a:off x="754380" y="1841500"/>
            <a:ext cx="10675620" cy="4298950"/>
            <a:chOff x="754380" y="1841500"/>
            <a:chExt cx="10675620" cy="4298950"/>
          </a:xfrm>
        </p:grpSpPr>
        <p:sp>
          <p:nvSpPr>
            <p:cNvPr id="1049198" name="TextBox 8"/>
            <p:cNvSpPr txBox="1"/>
            <p:nvPr/>
          </p:nvSpPr>
          <p:spPr>
            <a:xfrm>
              <a:off x="754380" y="1841500"/>
              <a:ext cx="4686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《民用建筑工程室内环境污染控制标准》GB 50325-2020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199" name="TextBox 9"/>
            <p:cNvSpPr txBox="1"/>
            <p:nvPr/>
          </p:nvSpPr>
          <p:spPr>
            <a:xfrm>
              <a:off x="756666" y="2159000"/>
              <a:ext cx="4240113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2020 年 8 月实施，对 VOC 限量再收紧；无机涂料 VOC≈0，成为验收首选。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00" name="TextBox 10"/>
            <p:cNvSpPr txBox="1"/>
            <p:nvPr/>
          </p:nvSpPr>
          <p:spPr>
            <a:xfrm>
              <a:off x="754380" y="2641600"/>
              <a:ext cx="3314701" cy="2286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《2020 年挥发性有机物治理攻坚方案》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01" name="TextBox 11"/>
            <p:cNvSpPr txBox="1"/>
            <p:nvPr/>
          </p:nvSpPr>
          <p:spPr>
            <a:xfrm>
              <a:off x="756666" y="2959100"/>
              <a:ext cx="5231557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提出大力推广低（无）VOC 含量原辅材料替代，无机涂料作为源头替代典型产品被重点推荐。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02" name="TextBox 12"/>
            <p:cNvSpPr txBox="1"/>
            <p:nvPr/>
          </p:nvSpPr>
          <p:spPr>
            <a:xfrm>
              <a:off x="754380" y="3441700"/>
              <a:ext cx="3505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《产业结构调整指导目录（2024 年本）》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03" name="TextBox 13"/>
            <p:cNvSpPr txBox="1"/>
            <p:nvPr/>
          </p:nvSpPr>
          <p:spPr>
            <a:xfrm>
              <a:off x="756666" y="3759200"/>
              <a:ext cx="5726857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将低 VOC 环境友好型涂料及无机/有机-无机复合高性能涂料列入鼓励类，享受投资、信贷、税收优惠。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04" name="TextBox 14"/>
            <p:cNvSpPr txBox="1"/>
            <p:nvPr/>
          </p:nvSpPr>
          <p:spPr>
            <a:xfrm>
              <a:off x="754380" y="4241800"/>
              <a:ext cx="3238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地方落地政策（北京、上海、广东等）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05" name="TextBox 15"/>
            <p:cNvSpPr txBox="1"/>
            <p:nvPr/>
          </p:nvSpPr>
          <p:spPr>
            <a:xfrm>
              <a:off x="756666" y="4559300"/>
              <a:ext cx="6120557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对使用无机涂料的项目给予 3%–5% 容积率奖励与财政补贴，政府采购强制要求 A 级不燃、零 VOC 绿色建材。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06" name="TextBox 16"/>
            <p:cNvSpPr txBox="1"/>
            <p:nvPr/>
          </p:nvSpPr>
          <p:spPr>
            <a:xfrm>
              <a:off x="754380" y="5041900"/>
              <a:ext cx="3429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《重点行业挥发性有机物削减行动计划》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07" name="TextBox 17"/>
            <p:cNvSpPr txBox="1"/>
            <p:nvPr/>
          </p:nvSpPr>
          <p:spPr>
            <a:xfrm>
              <a:off x="756666" y="5359400"/>
              <a:ext cx="5179913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鼓励使用低 VOCs 涂料，推广水性纯无机涂料与无机涂料，逐步限制溶剂型与高 VOCs 涂料。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08" name="Freeform 18"/>
            <p:cNvSpPr/>
            <p:nvPr/>
          </p:nvSpPr>
          <p:spPr>
            <a:xfrm>
              <a:off x="762000" y="58102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9209" name="TextBox 19"/>
            <p:cNvSpPr txBox="1"/>
            <p:nvPr/>
          </p:nvSpPr>
          <p:spPr>
            <a:xfrm>
              <a:off x="755904" y="5962650"/>
              <a:ext cx="19812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政策出处见下一页参考文献。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1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9210" name="Rectangle 21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9211" name="TextBox 22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12" name="TextBox 23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50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32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9215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265" name="page-title"/>
          <p:cNvGrpSpPr/>
          <p:nvPr/>
        </p:nvGrpSpPr>
        <p:grpSpPr>
          <a:xfrm>
            <a:off x="746760" y="622300"/>
            <a:ext cx="1539240" cy="892175"/>
            <a:chOff x="746760" y="622300"/>
            <a:chExt cx="1539240" cy="892175"/>
          </a:xfrm>
        </p:grpSpPr>
        <p:sp>
          <p:nvSpPr>
            <p:cNvPr id="1049216" name="TextBox 4"/>
            <p:cNvSpPr txBox="1"/>
            <p:nvPr/>
          </p:nvSpPr>
          <p:spPr>
            <a:xfrm>
              <a:off x="746760" y="622300"/>
              <a:ext cx="1524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参考文献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17" name="TextBox 5"/>
            <p:cNvSpPr txBox="1"/>
            <p:nvPr/>
          </p:nvSpPr>
          <p:spPr>
            <a:xfrm>
              <a:off x="755904" y="1143000"/>
              <a:ext cx="733376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References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18" name="Freeform 6"/>
            <p:cNvSpPr/>
            <p:nvPr/>
          </p:nvSpPr>
          <p:spPr>
            <a:xfrm>
              <a:off x="762000" y="15049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266" name="refs-left"/>
          <p:cNvGrpSpPr/>
          <p:nvPr/>
        </p:nvGrpSpPr>
        <p:grpSpPr>
          <a:xfrm>
            <a:off x="756666" y="1854200"/>
            <a:ext cx="2806700" cy="4121150"/>
            <a:chOff x="756666" y="1854200"/>
            <a:chExt cx="2806700" cy="4121150"/>
          </a:xfrm>
        </p:grpSpPr>
        <p:sp>
          <p:nvSpPr>
            <p:cNvPr id="1049219" name="TextBox 8"/>
            <p:cNvSpPr txBox="1"/>
            <p:nvPr/>
          </p:nvSpPr>
          <p:spPr>
            <a:xfrm>
              <a:off x="756666" y="1854200"/>
              <a:ext cx="7620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20" name="TextBox 9"/>
            <p:cNvSpPr txBox="1"/>
            <p:nvPr/>
          </p:nvSpPr>
          <p:spPr>
            <a:xfrm>
              <a:off x="1023366" y="1854200"/>
              <a:ext cx="254000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《「十四五」建筑节能与绿色建筑发展规划》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21" name="TextBox 10"/>
            <p:cNvSpPr txBox="1"/>
            <p:nvPr/>
          </p:nvSpPr>
          <p:spPr>
            <a:xfrm>
              <a:off x="756666" y="2216150"/>
              <a:ext cx="762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22" name="TextBox 11"/>
            <p:cNvSpPr txBox="1"/>
            <p:nvPr/>
          </p:nvSpPr>
          <p:spPr>
            <a:xfrm>
              <a:off x="1023366" y="2216150"/>
              <a:ext cx="23114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《绿色建筑评价标准》GB/T 50378-2019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23" name="TextBox 12"/>
            <p:cNvSpPr txBox="1"/>
            <p:nvPr/>
          </p:nvSpPr>
          <p:spPr>
            <a:xfrm>
              <a:off x="756666" y="2578100"/>
              <a:ext cx="762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24" name="TextBox 13"/>
            <p:cNvSpPr txBox="1"/>
            <p:nvPr/>
          </p:nvSpPr>
          <p:spPr>
            <a:xfrm>
              <a:off x="1023366" y="2578100"/>
              <a:ext cx="21590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《绿色建材产业高质量发展实施方案》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25" name="TextBox 14"/>
            <p:cNvSpPr txBox="1"/>
            <p:nvPr/>
          </p:nvSpPr>
          <p:spPr>
            <a:xfrm>
              <a:off x="756666" y="2940050"/>
              <a:ext cx="762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26" name="TextBox 15"/>
            <p:cNvSpPr txBox="1"/>
            <p:nvPr/>
          </p:nvSpPr>
          <p:spPr>
            <a:xfrm>
              <a:off x="1023366" y="2940050"/>
              <a:ext cx="14986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工信部联原〔2023〕56 号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27" name="TextBox 16"/>
            <p:cNvSpPr txBox="1"/>
            <p:nvPr/>
          </p:nvSpPr>
          <p:spPr>
            <a:xfrm>
              <a:off x="756666" y="3302000"/>
              <a:ext cx="762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28" name="TextBox 17"/>
            <p:cNvSpPr txBox="1"/>
            <p:nvPr/>
          </p:nvSpPr>
          <p:spPr>
            <a:xfrm>
              <a:off x="1023366" y="3302000"/>
              <a:ext cx="21844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《建筑防火通用规范》GB 55037-2022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29" name="TextBox 18"/>
            <p:cNvSpPr txBox="1"/>
            <p:nvPr/>
          </p:nvSpPr>
          <p:spPr>
            <a:xfrm>
              <a:off x="756666" y="3663950"/>
              <a:ext cx="762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30" name="TextBox 19"/>
            <p:cNvSpPr txBox="1"/>
            <p:nvPr/>
          </p:nvSpPr>
          <p:spPr>
            <a:xfrm>
              <a:off x="1023366" y="3663950"/>
              <a:ext cx="17780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住房和城乡建设部标准发布公告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31" name="TextBox 20"/>
            <p:cNvSpPr txBox="1"/>
            <p:nvPr/>
          </p:nvSpPr>
          <p:spPr>
            <a:xfrm>
              <a:off x="756666" y="4025900"/>
              <a:ext cx="762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32" name="TextBox 21"/>
            <p:cNvSpPr txBox="1"/>
            <p:nvPr/>
          </p:nvSpPr>
          <p:spPr>
            <a:xfrm>
              <a:off x="1023366" y="4025900"/>
              <a:ext cx="22860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《民用建筑工程室内环境污染控制标准》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33" name="TextBox 22"/>
            <p:cNvSpPr txBox="1"/>
            <p:nvPr/>
          </p:nvSpPr>
          <p:spPr>
            <a:xfrm>
              <a:off x="756666" y="4387850"/>
              <a:ext cx="762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34" name="TextBox 23"/>
            <p:cNvSpPr txBox="1"/>
            <p:nvPr/>
          </p:nvSpPr>
          <p:spPr>
            <a:xfrm>
              <a:off x="1023366" y="4387850"/>
              <a:ext cx="22352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《2020 年挥发性有机物治理攻坚方案》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35" name="TextBox 24"/>
            <p:cNvSpPr txBox="1"/>
            <p:nvPr/>
          </p:nvSpPr>
          <p:spPr>
            <a:xfrm>
              <a:off x="756666" y="4749800"/>
              <a:ext cx="762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9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36" name="TextBox 25"/>
            <p:cNvSpPr txBox="1"/>
            <p:nvPr/>
          </p:nvSpPr>
          <p:spPr>
            <a:xfrm>
              <a:off x="1023366" y="4749800"/>
              <a:ext cx="23622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《产业结构调整指导目录（2024 年本）》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37" name="TextBox 26"/>
            <p:cNvSpPr txBox="1"/>
            <p:nvPr/>
          </p:nvSpPr>
          <p:spPr>
            <a:xfrm>
              <a:off x="756666" y="5111750"/>
              <a:ext cx="15240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38" name="TextBox 27"/>
            <p:cNvSpPr txBox="1"/>
            <p:nvPr/>
          </p:nvSpPr>
          <p:spPr>
            <a:xfrm>
              <a:off x="1023366" y="5111750"/>
              <a:ext cx="228600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政府采购支持绿色建材政策实施范围通知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39" name="TextBox 28"/>
            <p:cNvSpPr txBox="1"/>
            <p:nvPr/>
          </p:nvSpPr>
          <p:spPr>
            <a:xfrm>
              <a:off x="756666" y="5473700"/>
              <a:ext cx="15240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40" name="TextBox 29"/>
            <p:cNvSpPr txBox="1"/>
            <p:nvPr/>
          </p:nvSpPr>
          <p:spPr>
            <a:xfrm>
              <a:off x="1023366" y="5473700"/>
              <a:ext cx="228600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《重点行业挥发性有机物削减行动计划》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41" name="TextBox 30"/>
            <p:cNvSpPr txBox="1"/>
            <p:nvPr/>
          </p:nvSpPr>
          <p:spPr>
            <a:xfrm>
              <a:off x="756666" y="5835650"/>
              <a:ext cx="15240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42" name="TextBox 31"/>
            <p:cNvSpPr txBox="1"/>
            <p:nvPr/>
          </p:nvSpPr>
          <p:spPr>
            <a:xfrm>
              <a:off x="1023366" y="5835650"/>
              <a:ext cx="2526457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《建筑类涂料与胶粘剂 VOCs 含量限值标准》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7" name="refs-note"/>
          <p:cNvGrpSpPr/>
          <p:nvPr/>
        </p:nvGrpSpPr>
        <p:grpSpPr>
          <a:xfrm>
            <a:off x="6661404" y="1828800"/>
            <a:ext cx="4768596" cy="2266950"/>
            <a:chOff x="6661404" y="1828800"/>
            <a:chExt cx="4768596" cy="2266950"/>
          </a:xfrm>
        </p:grpSpPr>
        <p:sp>
          <p:nvSpPr>
            <p:cNvPr id="1049243" name="TextBox 33"/>
            <p:cNvSpPr txBox="1"/>
            <p:nvPr/>
          </p:nvSpPr>
          <p:spPr>
            <a:xfrm>
              <a:off x="6661404" y="182880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说明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44" name="Freeform 34"/>
            <p:cNvSpPr/>
            <p:nvPr/>
          </p:nvSpPr>
          <p:spPr>
            <a:xfrm>
              <a:off x="6667500" y="21526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9245" name="TextBox 35"/>
            <p:cNvSpPr txBox="1"/>
            <p:nvPr/>
          </p:nvSpPr>
          <p:spPr>
            <a:xfrm>
              <a:off x="6662166" y="2343150"/>
              <a:ext cx="2286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195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以上文件为前述政策页引用的公开出处，</a:t>
              </a:r>
              <a:b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原文与链接见原册参考文献页。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46" name="TextBox 36"/>
            <p:cNvSpPr txBox="1"/>
            <p:nvPr/>
          </p:nvSpPr>
          <p:spPr>
            <a:xfrm>
              <a:off x="6661404" y="3086100"/>
              <a:ext cx="609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使用建议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47" name="Freeform 37"/>
            <p:cNvSpPr/>
            <p:nvPr/>
          </p:nvSpPr>
          <p:spPr>
            <a:xfrm>
              <a:off x="6667500" y="34099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9248" name="TextBox 38"/>
            <p:cNvSpPr txBox="1"/>
            <p:nvPr/>
          </p:nvSpPr>
          <p:spPr>
            <a:xfrm>
              <a:off x="6662166" y="3600450"/>
              <a:ext cx="2413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195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投标或报验需引用政策条款时，以官方发布</a:t>
              </a:r>
              <a:b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原文为准，本册仅作索引。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8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9249" name="Rectangle 4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9250" name="TextBox 41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51" name="TextBox 42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51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2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brand-logo"/>
          <p:cNvGrpSpPr/>
          <p:nvPr/>
        </p:nvGrpSpPr>
        <p:grpSpPr>
          <a:xfrm>
            <a:off x="914400" y="838200"/>
            <a:ext cx="2171700" cy="1066800"/>
            <a:chOff x="914400" y="838200"/>
            <a:chExt cx="2171700" cy="1066800"/>
          </a:xfrm>
        </p:grpSpPr>
        <p:sp>
          <p:nvSpPr>
            <p:cNvPr id="1049254" name="Rectangle 2"/>
            <p:cNvSpPr/>
            <p:nvPr/>
          </p:nvSpPr>
          <p:spPr>
            <a:xfrm>
              <a:off x="914400" y="838200"/>
              <a:ext cx="2171700" cy="1066800"/>
            </a:xfrm>
            <a:prstGeom prst="roundRect">
              <a:avLst>
                <a:gd name="adj" fmla="val 5357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2097233" name="Image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90600" y="928020"/>
              <a:ext cx="2019300" cy="887160"/>
            </a:xfrm>
            <a:prstGeom prst="rect">
              <a:avLst/>
            </a:prstGeom>
          </p:spPr>
        </p:pic>
      </p:grpSp>
      <p:sp>
        <p:nvSpPr>
          <p:cNvPr id="1049255" name="section-orange"/>
          <p:cNvSpPr/>
          <p:nvPr/>
        </p:nvSpPr>
        <p:spPr>
          <a:xfrm>
            <a:off x="7810500" y="0"/>
            <a:ext cx="4381500" cy="6858000"/>
          </a:xfrm>
          <a:custGeom>
            <a:avLst/>
            <a:gdLst/>
            <a:ahLst/>
            <a:cxnLst/>
            <a:rect l="l" t="t" r="r" b="b"/>
            <a:pathLst>
              <a:path w="4381500" h="6858000">
                <a:moveTo>
                  <a:pt x="0" y="0"/>
                </a:moveTo>
                <a:lnTo>
                  <a:pt x="4381500" y="0"/>
                </a:lnTo>
                <a:lnTo>
                  <a:pt x="4381500" y="6858000"/>
                </a:lnTo>
                <a:lnTo>
                  <a:pt x="171450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049256" name="section-light"/>
          <p:cNvSpPr/>
          <p:nvPr/>
        </p:nvSpPr>
        <p:spPr>
          <a:xfrm>
            <a:off x="7239000" y="0"/>
            <a:ext cx="1962150" cy="6858000"/>
          </a:xfrm>
          <a:custGeom>
            <a:avLst/>
            <a:gdLst/>
            <a:ahLst/>
            <a:cxnLst/>
            <a:rect l="l" t="t" r="r" b="b"/>
            <a:pathLst>
              <a:path w="1962150" h="6858000">
                <a:moveTo>
                  <a:pt x="0" y="0"/>
                </a:moveTo>
                <a:lnTo>
                  <a:pt x="247650" y="0"/>
                </a:lnTo>
                <a:lnTo>
                  <a:pt x="1962150" y="6858000"/>
                </a:lnTo>
                <a:lnTo>
                  <a:pt x="1714500" y="6858000"/>
                </a:lnTo>
                <a:close/>
              </a:path>
            </a:pathLst>
          </a:custGeom>
          <a:solidFill>
            <a:schemeClr val="lt2">
              <a:alpha val="25000"/>
            </a:schemeClr>
          </a:solidFill>
          <a:ln>
            <a:noFill/>
          </a:ln>
        </p:spPr>
      </p:sp>
      <p:grpSp>
        <p:nvGrpSpPr>
          <p:cNvPr id="273" name="section-title"/>
          <p:cNvGrpSpPr/>
          <p:nvPr/>
        </p:nvGrpSpPr>
        <p:grpSpPr>
          <a:xfrm>
            <a:off x="895350" y="2857500"/>
            <a:ext cx="4114800" cy="1781175"/>
            <a:chOff x="895350" y="2857500"/>
            <a:chExt cx="4114800" cy="1781175"/>
          </a:xfrm>
        </p:grpSpPr>
        <p:sp>
          <p:nvSpPr>
            <p:cNvPr id="1049257" name="TextBox 7"/>
            <p:cNvSpPr txBox="1"/>
            <p:nvPr/>
          </p:nvSpPr>
          <p:spPr>
            <a:xfrm>
              <a:off x="908304" y="2857500"/>
              <a:ext cx="847378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PART 06</a:t>
              </a:r>
              <a:endParaRPr lang="en-US" sz="1200" spc="3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58" name="TextBox 8"/>
            <p:cNvSpPr txBox="1"/>
            <p:nvPr/>
          </p:nvSpPr>
          <p:spPr>
            <a:xfrm>
              <a:off x="895350" y="3302000"/>
              <a:ext cx="41148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5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品牌推广矩阵</a:t>
              </a:r>
              <a:endParaRPr lang="zh-CN" sz="5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59" name="TextBox 9"/>
            <p:cNvSpPr txBox="1"/>
            <p:nvPr/>
          </p:nvSpPr>
          <p:spPr>
            <a:xfrm>
              <a:off x="908304" y="4191000"/>
              <a:ext cx="18458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spc="1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BRAND &amp; PROMOTION</a:t>
              </a:r>
              <a:endParaRPr lang="en-US" sz="1200" spc="150" dirty="0">
                <a:solidFill>
                  <a:srgbClr val="F4F1E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60" name="Freeform 10"/>
            <p:cNvSpPr/>
            <p:nvPr/>
          </p:nvSpPr>
          <p:spPr>
            <a:xfrm>
              <a:off x="914400" y="462915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274" name="section-note"/>
          <p:cNvGrpSpPr/>
          <p:nvPr/>
        </p:nvGrpSpPr>
        <p:grpSpPr>
          <a:xfrm>
            <a:off x="906780" y="5118100"/>
            <a:ext cx="3619501" cy="552451"/>
            <a:chOff x="906780" y="5118100"/>
            <a:chExt cx="3619501" cy="552451"/>
          </a:xfrm>
        </p:grpSpPr>
        <p:sp>
          <p:nvSpPr>
            <p:cNvPr id="1049261" name="TextBox 12"/>
            <p:cNvSpPr txBox="1"/>
            <p:nvPr/>
          </p:nvSpPr>
          <p:spPr>
            <a:xfrm>
              <a:off x="906780" y="5118100"/>
              <a:ext cx="36195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品牌使命、价值观，以及官网、搜索引擎、</a:t>
              </a:r>
              <a:endParaRPr lang="zh-CN" sz="1500" dirty="0">
                <a:solidFill>
                  <a:srgbClr val="F4F1E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62" name="TextBox 13"/>
            <p:cNvSpPr txBox="1"/>
            <p:nvPr/>
          </p:nvSpPr>
          <p:spPr>
            <a:xfrm>
              <a:off x="906780" y="5441950"/>
              <a:ext cx="2476500" cy="2286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电商与社媒的完整推广矩阵。</a:t>
              </a:r>
              <a:endParaRPr lang="zh-CN" sz="1500" dirty="0">
                <a:solidFill>
                  <a:srgbClr val="F4F1E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5" name="footer"/>
          <p:cNvGrpSpPr/>
          <p:nvPr/>
        </p:nvGrpSpPr>
        <p:grpSpPr>
          <a:xfrm>
            <a:off x="604266" y="6616700"/>
            <a:ext cx="10905674" cy="139700"/>
            <a:chOff x="604266" y="6616700"/>
            <a:chExt cx="10905674" cy="139700"/>
          </a:xfrm>
        </p:grpSpPr>
        <p:sp>
          <p:nvSpPr>
            <p:cNvPr id="1049263" name="TextBox 15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4F1E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64" name="TextBox 16"/>
            <p:cNvSpPr txBox="1"/>
            <p:nvPr/>
          </p:nvSpPr>
          <p:spPr>
            <a:xfrm>
              <a:off x="11103540" y="6616700"/>
              <a:ext cx="40640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53 / 79</a:t>
              </a:r>
              <a:endParaRPr lang="zh-CN" sz="1050" dirty="0">
                <a:solidFill>
                  <a:srgbClr val="F4F1EA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34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9267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279" name="page-title"/>
          <p:cNvGrpSpPr/>
          <p:nvPr/>
        </p:nvGrpSpPr>
        <p:grpSpPr>
          <a:xfrm>
            <a:off x="746760" y="546100"/>
            <a:ext cx="4746907" cy="854075"/>
            <a:chOff x="746760" y="546100"/>
            <a:chExt cx="4746907" cy="854075"/>
          </a:xfrm>
        </p:grpSpPr>
        <p:sp>
          <p:nvSpPr>
            <p:cNvPr id="1049268" name="TextBox 4"/>
            <p:cNvSpPr txBox="1"/>
            <p:nvPr/>
          </p:nvSpPr>
          <p:spPr>
            <a:xfrm>
              <a:off x="746760" y="546100"/>
              <a:ext cx="1524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推广矩阵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69" name="TextBox 5"/>
            <p:cNvSpPr txBox="1"/>
            <p:nvPr/>
          </p:nvSpPr>
          <p:spPr>
            <a:xfrm>
              <a:off x="756666" y="1073150"/>
              <a:ext cx="4737001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BEST LAND Promotion Matrix　账号：贝之然纯无机涂料　官网：bestlandpaint.com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70" name="Freeform 6"/>
            <p:cNvSpPr/>
            <p:nvPr/>
          </p:nvSpPr>
          <p:spPr>
            <a:xfrm>
              <a:off x="762000" y="13906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280" name="matrix-domestic"/>
          <p:cNvGrpSpPr/>
          <p:nvPr/>
        </p:nvGrpSpPr>
        <p:grpSpPr>
          <a:xfrm>
            <a:off x="755904" y="1600200"/>
            <a:ext cx="5530596" cy="4260850"/>
            <a:chOff x="755904" y="1600200"/>
            <a:chExt cx="5530596" cy="4260850"/>
          </a:xfrm>
        </p:grpSpPr>
        <p:sp>
          <p:nvSpPr>
            <p:cNvPr id="1049271" name="TextBox 8"/>
            <p:cNvSpPr txBox="1"/>
            <p:nvPr/>
          </p:nvSpPr>
          <p:spPr>
            <a:xfrm>
              <a:off x="755904" y="1600200"/>
              <a:ext cx="609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国内阵地</a:t>
              </a:r>
              <a:endPara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72" name="Freeform 9"/>
            <p:cNvSpPr/>
            <p:nvPr/>
          </p:nvSpPr>
          <p:spPr>
            <a:xfrm>
              <a:off x="762000" y="18669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9273" name="TextBox 10"/>
            <p:cNvSpPr txBox="1"/>
            <p:nvPr/>
          </p:nvSpPr>
          <p:spPr>
            <a:xfrm>
              <a:off x="756666" y="1987550"/>
              <a:ext cx="19685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　bestlandpaint.com　企业官网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74" name="TextBox 11"/>
            <p:cNvSpPr txBox="1"/>
            <p:nvPr/>
          </p:nvSpPr>
          <p:spPr>
            <a:xfrm>
              <a:off x="756666" y="2254250"/>
              <a:ext cx="11684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　百度　搜索引擎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75" name="TextBox 12"/>
            <p:cNvSpPr txBox="1"/>
            <p:nvPr/>
          </p:nvSpPr>
          <p:spPr>
            <a:xfrm>
              <a:off x="756666" y="2520950"/>
              <a:ext cx="12192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　1688　电商平台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76" name="TextBox 13"/>
            <p:cNvSpPr txBox="1"/>
            <p:nvPr/>
          </p:nvSpPr>
          <p:spPr>
            <a:xfrm>
              <a:off x="756666" y="2787650"/>
              <a:ext cx="11684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　淘宝　电商平台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77" name="TextBox 14"/>
            <p:cNvSpPr txBox="1"/>
            <p:nvPr/>
          </p:nvSpPr>
          <p:spPr>
            <a:xfrm>
              <a:off x="756666" y="3054350"/>
              <a:ext cx="11684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　京东　电商平台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78" name="TextBox 15"/>
            <p:cNvSpPr txBox="1"/>
            <p:nvPr/>
          </p:nvSpPr>
          <p:spPr>
            <a:xfrm>
              <a:off x="756666" y="3321050"/>
              <a:ext cx="12954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06　拼多多　电商平台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79" name="TextBox 16"/>
            <p:cNvSpPr txBox="1"/>
            <p:nvPr/>
          </p:nvSpPr>
          <p:spPr>
            <a:xfrm>
              <a:off x="756666" y="3587750"/>
              <a:ext cx="11684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07　今日头条　社媒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80" name="TextBox 17"/>
            <p:cNvSpPr txBox="1"/>
            <p:nvPr/>
          </p:nvSpPr>
          <p:spPr>
            <a:xfrm>
              <a:off x="756666" y="3854450"/>
              <a:ext cx="10414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08　百家号　社媒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81" name="TextBox 18"/>
            <p:cNvSpPr txBox="1"/>
            <p:nvPr/>
          </p:nvSpPr>
          <p:spPr>
            <a:xfrm>
              <a:off x="756666" y="4121150"/>
              <a:ext cx="12954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09　微信公众号　社媒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82" name="TextBox 19"/>
            <p:cNvSpPr txBox="1"/>
            <p:nvPr/>
          </p:nvSpPr>
          <p:spPr>
            <a:xfrm>
              <a:off x="756666" y="4387850"/>
              <a:ext cx="14224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　哔哩哔哩　视频平台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83" name="TextBox 20"/>
            <p:cNvSpPr txBox="1"/>
            <p:nvPr/>
          </p:nvSpPr>
          <p:spPr>
            <a:xfrm>
              <a:off x="756666" y="4654550"/>
              <a:ext cx="91440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11　知乎　社媒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84" name="TextBox 21"/>
            <p:cNvSpPr txBox="1"/>
            <p:nvPr/>
          </p:nvSpPr>
          <p:spPr>
            <a:xfrm>
              <a:off x="756666" y="4921250"/>
              <a:ext cx="104140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　大鱼号　社媒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85" name="TextBox 22"/>
            <p:cNvSpPr txBox="1"/>
            <p:nvPr/>
          </p:nvSpPr>
          <p:spPr>
            <a:xfrm>
              <a:off x="756666" y="5187950"/>
              <a:ext cx="91440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13　简书　社媒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86" name="TextBox 23"/>
            <p:cNvSpPr txBox="1"/>
            <p:nvPr/>
          </p:nvSpPr>
          <p:spPr>
            <a:xfrm>
              <a:off x="756666" y="5454650"/>
              <a:ext cx="104140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14　小红书　社媒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87" name="TextBox 24"/>
            <p:cNvSpPr txBox="1"/>
            <p:nvPr/>
          </p:nvSpPr>
          <p:spPr>
            <a:xfrm>
              <a:off x="756666" y="5721350"/>
              <a:ext cx="91440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　微博　社媒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1" name="matrix-overseas"/>
          <p:cNvGrpSpPr/>
          <p:nvPr/>
        </p:nvGrpSpPr>
        <p:grpSpPr>
          <a:xfrm>
            <a:off x="6813804" y="1600200"/>
            <a:ext cx="4616196" cy="4565650"/>
            <a:chOff x="6813804" y="1600200"/>
            <a:chExt cx="4616196" cy="4565650"/>
          </a:xfrm>
        </p:grpSpPr>
        <p:sp>
          <p:nvSpPr>
            <p:cNvPr id="1049288" name="TextBox 26"/>
            <p:cNvSpPr txBox="1"/>
            <p:nvPr/>
          </p:nvSpPr>
          <p:spPr>
            <a:xfrm>
              <a:off x="6813804" y="1600200"/>
              <a:ext cx="609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跨境阵地</a:t>
              </a:r>
              <a:endPara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89" name="Freeform 27"/>
            <p:cNvSpPr/>
            <p:nvPr/>
          </p:nvSpPr>
          <p:spPr>
            <a:xfrm>
              <a:off x="6819900" y="186690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9290" name="TextBox 28"/>
            <p:cNvSpPr txBox="1"/>
            <p:nvPr/>
          </p:nvSpPr>
          <p:spPr>
            <a:xfrm>
              <a:off x="6814566" y="1987550"/>
              <a:ext cx="11684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16　百度百科　百科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91" name="TextBox 29"/>
            <p:cNvSpPr txBox="1"/>
            <p:nvPr/>
          </p:nvSpPr>
          <p:spPr>
            <a:xfrm>
              <a:off x="6814566" y="2254250"/>
              <a:ext cx="11684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17　快手　视频平台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92" name="TextBox 30"/>
            <p:cNvSpPr txBox="1"/>
            <p:nvPr/>
          </p:nvSpPr>
          <p:spPr>
            <a:xfrm>
              <a:off x="6814566" y="2520950"/>
              <a:ext cx="11684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　抖音　视频平台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93" name="TextBox 31"/>
            <p:cNvSpPr txBox="1"/>
            <p:nvPr/>
          </p:nvSpPr>
          <p:spPr>
            <a:xfrm>
              <a:off x="6814566" y="2787650"/>
              <a:ext cx="12954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　买化塑　电商平台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94" name="TextBox 32"/>
            <p:cNvSpPr txBox="1"/>
            <p:nvPr/>
          </p:nvSpPr>
          <p:spPr>
            <a:xfrm>
              <a:off x="6814566" y="3054350"/>
              <a:ext cx="13208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　Google　搜索引擎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95" name="TextBox 33"/>
            <p:cNvSpPr txBox="1"/>
            <p:nvPr/>
          </p:nvSpPr>
          <p:spPr>
            <a:xfrm>
              <a:off x="6814566" y="3321050"/>
              <a:ext cx="1396008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21　Amazon　电商平台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96" name="TextBox 34"/>
            <p:cNvSpPr txBox="1"/>
            <p:nvPr/>
          </p:nvSpPr>
          <p:spPr>
            <a:xfrm>
              <a:off x="6814566" y="3587750"/>
              <a:ext cx="15494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22　全球速卖通　电商平台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97" name="TextBox 35"/>
            <p:cNvSpPr txBox="1"/>
            <p:nvPr/>
          </p:nvSpPr>
          <p:spPr>
            <a:xfrm>
              <a:off x="6814566" y="3854450"/>
              <a:ext cx="1238449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23　Temu　电商平台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98" name="TextBox 36"/>
            <p:cNvSpPr txBox="1"/>
            <p:nvPr/>
          </p:nvSpPr>
          <p:spPr>
            <a:xfrm>
              <a:off x="6814566" y="4121150"/>
              <a:ext cx="1217067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24　Facebook　社媒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299" name="TextBox 37"/>
            <p:cNvSpPr txBox="1"/>
            <p:nvPr/>
          </p:nvSpPr>
          <p:spPr>
            <a:xfrm>
              <a:off x="6814566" y="4387850"/>
              <a:ext cx="122942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25　Instagram　社媒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00" name="TextBox 38"/>
            <p:cNvSpPr txBox="1"/>
            <p:nvPr/>
          </p:nvSpPr>
          <p:spPr>
            <a:xfrm>
              <a:off x="6814566" y="4654550"/>
              <a:ext cx="1037829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26　Twitter　社媒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01" name="TextBox 39"/>
            <p:cNvSpPr txBox="1"/>
            <p:nvPr/>
          </p:nvSpPr>
          <p:spPr>
            <a:xfrm>
              <a:off x="6814566" y="4921250"/>
              <a:ext cx="1425129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27　YouTube　视频平台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02" name="TextBox 40"/>
            <p:cNvSpPr txBox="1"/>
            <p:nvPr/>
          </p:nvSpPr>
          <p:spPr>
            <a:xfrm>
              <a:off x="6814566" y="5187950"/>
              <a:ext cx="114176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28　LinkedIn　社媒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03" name="TextBox 41"/>
            <p:cNvSpPr txBox="1"/>
            <p:nvPr/>
          </p:nvSpPr>
          <p:spPr>
            <a:xfrm>
              <a:off x="6814566" y="5454650"/>
              <a:ext cx="1619449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29　TikTok Shop　电商平台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04" name="TextBox 42"/>
            <p:cNvSpPr txBox="1"/>
            <p:nvPr/>
          </p:nvSpPr>
          <p:spPr>
            <a:xfrm>
              <a:off x="6814566" y="5721350"/>
              <a:ext cx="140851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30　Mercado　电商平台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05" name="TextBox 43"/>
            <p:cNvSpPr txBox="1"/>
            <p:nvPr/>
          </p:nvSpPr>
          <p:spPr>
            <a:xfrm>
              <a:off x="6814566" y="6026150"/>
              <a:ext cx="251460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图文与视频双线发布，2026 年 完成矩阵搭建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2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9306" name="Rectangle 45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9307" name="TextBox 46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08" name="TextBox 47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55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35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9311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286" name="page-title"/>
          <p:cNvGrpSpPr/>
          <p:nvPr/>
        </p:nvGrpSpPr>
        <p:grpSpPr>
          <a:xfrm>
            <a:off x="746760" y="622300"/>
            <a:ext cx="1729740" cy="892175"/>
            <a:chOff x="746760" y="622300"/>
            <a:chExt cx="1729740" cy="892175"/>
          </a:xfrm>
        </p:grpSpPr>
        <p:sp>
          <p:nvSpPr>
            <p:cNvPr id="1049312" name="TextBox 4"/>
            <p:cNvSpPr txBox="1"/>
            <p:nvPr/>
          </p:nvSpPr>
          <p:spPr>
            <a:xfrm>
              <a:off x="746760" y="622300"/>
              <a:ext cx="1524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官方网站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13" name="TextBox 5"/>
            <p:cNvSpPr txBox="1"/>
            <p:nvPr/>
          </p:nvSpPr>
          <p:spPr>
            <a:xfrm>
              <a:off x="755904" y="1143000"/>
              <a:ext cx="12954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bestlandpaint.com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14" name="Freeform 6"/>
            <p:cNvSpPr/>
            <p:nvPr/>
          </p:nvSpPr>
          <p:spPr>
            <a:xfrm>
              <a:off x="762000" y="15049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287" name="site-text"/>
          <p:cNvGrpSpPr/>
          <p:nvPr/>
        </p:nvGrpSpPr>
        <p:grpSpPr>
          <a:xfrm>
            <a:off x="752856" y="1841500"/>
            <a:ext cx="5724144" cy="3956050"/>
            <a:chOff x="752856" y="1841500"/>
            <a:chExt cx="5724144" cy="3956050"/>
          </a:xfrm>
        </p:grpSpPr>
        <p:sp>
          <p:nvSpPr>
            <p:cNvPr id="1049315" name="TextBox 8"/>
            <p:cNvSpPr txBox="1"/>
            <p:nvPr/>
          </p:nvSpPr>
          <p:spPr>
            <a:xfrm>
              <a:off x="752856" y="1841500"/>
              <a:ext cx="30861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贝之然官网 bestlandpaint.com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16" name="Freeform 9"/>
            <p:cNvSpPr/>
            <p:nvPr/>
          </p:nvSpPr>
          <p:spPr>
            <a:xfrm>
              <a:off x="762000" y="228600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9317" name="TextBox 10"/>
            <p:cNvSpPr txBox="1"/>
            <p:nvPr/>
          </p:nvSpPr>
          <p:spPr>
            <a:xfrm>
              <a:off x="755904" y="257175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内容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18" name="TextBox 11"/>
            <p:cNvSpPr txBox="1"/>
            <p:nvPr/>
          </p:nvSpPr>
          <p:spPr>
            <a:xfrm>
              <a:off x="754380" y="2889250"/>
              <a:ext cx="3810000" cy="2286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品牌介绍、产品系列、应用案例与联系方式。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19" name="TextBox 12"/>
            <p:cNvSpPr txBox="1"/>
            <p:nvPr/>
          </p:nvSpPr>
          <p:spPr>
            <a:xfrm>
              <a:off x="755904" y="3467100"/>
              <a:ext cx="3048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用途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20" name="TextBox 13"/>
            <p:cNvSpPr txBox="1"/>
            <p:nvPr/>
          </p:nvSpPr>
          <p:spPr>
            <a:xfrm>
              <a:off x="754380" y="3733800"/>
              <a:ext cx="30632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客户与合作伙伴可在此核对产品线、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下载资料并提交合作咨询。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21" name="TextBox 14"/>
            <p:cNvSpPr txBox="1"/>
            <p:nvPr/>
          </p:nvSpPr>
          <p:spPr>
            <a:xfrm>
              <a:off x="755904" y="4724400"/>
              <a:ext cx="3048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入口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22" name="TextBox 15"/>
            <p:cNvSpPr txBox="1"/>
            <p:nvPr/>
          </p:nvSpPr>
          <p:spPr>
            <a:xfrm>
              <a:off x="754380" y="5029200"/>
              <a:ext cx="21889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https://bestlandpaint.com</a:t>
              </a:r>
              <a:endParaRPr lang="en-US" sz="15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23" name="Freeform 16"/>
            <p:cNvSpPr/>
            <p:nvPr/>
          </p:nvSpPr>
          <p:spPr>
            <a:xfrm>
              <a:off x="762000" y="57150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9324" name="TextBox 17"/>
            <p:cNvSpPr txBox="1"/>
            <p:nvPr/>
          </p:nvSpPr>
          <p:spPr>
            <a:xfrm>
              <a:off x="1022604" y="5619750"/>
              <a:ext cx="9144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官网首页截图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8" name="site-shot"/>
          <p:cNvGrpSpPr/>
          <p:nvPr/>
        </p:nvGrpSpPr>
        <p:grpSpPr>
          <a:xfrm>
            <a:off x="7429500" y="1714500"/>
            <a:ext cx="3810000" cy="4381500"/>
            <a:chOff x="7429500" y="1714500"/>
            <a:chExt cx="3810000" cy="4381500"/>
          </a:xfrm>
        </p:grpSpPr>
        <p:pic>
          <p:nvPicPr>
            <p:cNvPr id="2097236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85820" y="1714500"/>
              <a:ext cx="2697361" cy="4381500"/>
            </a:xfrm>
            <a:prstGeom prst="rect">
              <a:avLst/>
            </a:prstGeom>
          </p:spPr>
        </p:pic>
        <p:sp>
          <p:nvSpPr>
            <p:cNvPr id="1049325" name="Freeform 20"/>
            <p:cNvSpPr/>
            <p:nvPr/>
          </p:nvSpPr>
          <p:spPr>
            <a:xfrm>
              <a:off x="7429500" y="1714500"/>
              <a:ext cx="3810000" cy="4381500"/>
            </a:xfrm>
            <a:custGeom>
              <a:avLst/>
              <a:gdLst/>
              <a:ahLst/>
              <a:cxnLst/>
              <a:rect l="l" t="t" r="r" b="b"/>
              <a:pathLst>
                <a:path w="3810000" h="4381500">
                  <a:moveTo>
                    <a:pt x="0" y="0"/>
                  </a:moveTo>
                  <a:lnTo>
                    <a:pt x="3810000" y="0"/>
                  </a:lnTo>
                  <a:lnTo>
                    <a:pt x="3810000" y="4381500"/>
                  </a:lnTo>
                  <a:lnTo>
                    <a:pt x="0" y="4381500"/>
                  </a:lnTo>
                  <a:close/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89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9326" name="Rectangle 22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9327" name="TextBox 23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28" name="TextBox 24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56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37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9331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293" name="page-title"/>
          <p:cNvGrpSpPr/>
          <p:nvPr/>
        </p:nvGrpSpPr>
        <p:grpSpPr>
          <a:xfrm>
            <a:off x="746760" y="622300"/>
            <a:ext cx="1729740" cy="892175"/>
            <a:chOff x="746760" y="622300"/>
            <a:chExt cx="1729740" cy="892175"/>
          </a:xfrm>
        </p:grpSpPr>
        <p:sp>
          <p:nvSpPr>
            <p:cNvPr id="1049332" name="TextBox 4"/>
            <p:cNvSpPr txBox="1"/>
            <p:nvPr/>
          </p:nvSpPr>
          <p:spPr>
            <a:xfrm>
              <a:off x="746760" y="622300"/>
              <a:ext cx="1524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搜索引擎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33" name="TextBox 5"/>
            <p:cNvSpPr txBox="1"/>
            <p:nvPr/>
          </p:nvSpPr>
          <p:spPr>
            <a:xfrm>
              <a:off x="755904" y="1143000"/>
              <a:ext cx="976462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Search Engine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34" name="Freeform 6"/>
            <p:cNvSpPr/>
            <p:nvPr/>
          </p:nvSpPr>
          <p:spPr>
            <a:xfrm>
              <a:off x="762000" y="15049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294" name="search-text"/>
          <p:cNvGrpSpPr/>
          <p:nvPr/>
        </p:nvGrpSpPr>
        <p:grpSpPr>
          <a:xfrm>
            <a:off x="754380" y="1803400"/>
            <a:ext cx="4968240" cy="579120"/>
            <a:chOff x="754380" y="1803400"/>
            <a:chExt cx="4968240" cy="579120"/>
          </a:xfrm>
        </p:grpSpPr>
        <p:sp>
          <p:nvSpPr>
            <p:cNvPr id="1049335" name="TextBox 8"/>
            <p:cNvSpPr txBox="1"/>
            <p:nvPr/>
          </p:nvSpPr>
          <p:spPr>
            <a:xfrm>
              <a:off x="754380" y="180340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「贝之然」在百度与谷歌均可检索到品牌官网与产品信息，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客户搜索品牌名即可直达。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5" name="search-shots"/>
          <p:cNvGrpSpPr/>
          <p:nvPr/>
        </p:nvGrpSpPr>
        <p:grpSpPr>
          <a:xfrm>
            <a:off x="756666" y="2762250"/>
            <a:ext cx="10578084" cy="3479800"/>
            <a:chOff x="756666" y="2762250"/>
            <a:chExt cx="10578084" cy="3479800"/>
          </a:xfrm>
        </p:grpSpPr>
        <p:pic>
          <p:nvPicPr>
            <p:cNvPr id="2097238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7770" y="2762250"/>
              <a:ext cx="4322461" cy="3238500"/>
            </a:xfrm>
            <a:prstGeom prst="rect">
              <a:avLst/>
            </a:prstGeom>
          </p:spPr>
        </p:pic>
        <p:sp>
          <p:nvSpPr>
            <p:cNvPr id="1049336" name="Freeform 11"/>
            <p:cNvSpPr/>
            <p:nvPr/>
          </p:nvSpPr>
          <p:spPr>
            <a:xfrm>
              <a:off x="762000" y="2762250"/>
              <a:ext cx="5334000" cy="3238500"/>
            </a:xfrm>
            <a:custGeom>
              <a:avLst/>
              <a:gdLst/>
              <a:ahLst/>
              <a:cxnLst/>
              <a:rect l="l" t="t" r="r" b="b"/>
              <a:pathLst>
                <a:path w="5334000" h="3238500">
                  <a:moveTo>
                    <a:pt x="0" y="0"/>
                  </a:moveTo>
                  <a:lnTo>
                    <a:pt x="5334000" y="0"/>
                  </a:lnTo>
                  <a:lnTo>
                    <a:pt x="5334000" y="3238500"/>
                  </a:lnTo>
                  <a:lnTo>
                    <a:pt x="0" y="3238500"/>
                  </a:lnTo>
                  <a:close/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49337" name="TextBox 12"/>
            <p:cNvSpPr txBox="1"/>
            <p:nvPr/>
          </p:nvSpPr>
          <p:spPr>
            <a:xfrm>
              <a:off x="756666" y="6102350"/>
              <a:ext cx="127000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贝之然｜百度搜索引擎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2097239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44645" y="2762250"/>
              <a:ext cx="4322461" cy="3238500"/>
            </a:xfrm>
            <a:prstGeom prst="rect">
              <a:avLst/>
            </a:prstGeom>
          </p:spPr>
        </p:pic>
        <p:sp>
          <p:nvSpPr>
            <p:cNvPr id="1049338" name="Freeform 14"/>
            <p:cNvSpPr/>
            <p:nvPr/>
          </p:nvSpPr>
          <p:spPr>
            <a:xfrm>
              <a:off x="6477000" y="2762250"/>
              <a:ext cx="4857750" cy="3238500"/>
            </a:xfrm>
            <a:custGeom>
              <a:avLst/>
              <a:gdLst/>
              <a:ahLst/>
              <a:cxnLst/>
              <a:rect l="l" t="t" r="r" b="b"/>
              <a:pathLst>
                <a:path w="4857750" h="3238500">
                  <a:moveTo>
                    <a:pt x="0" y="0"/>
                  </a:moveTo>
                  <a:lnTo>
                    <a:pt x="4857750" y="0"/>
                  </a:lnTo>
                  <a:lnTo>
                    <a:pt x="4857750" y="3238500"/>
                  </a:lnTo>
                  <a:lnTo>
                    <a:pt x="0" y="3238500"/>
                  </a:lnTo>
                  <a:close/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49339" name="TextBox 15"/>
            <p:cNvSpPr txBox="1"/>
            <p:nvPr/>
          </p:nvSpPr>
          <p:spPr>
            <a:xfrm>
              <a:off x="6471666" y="6102350"/>
              <a:ext cx="1270000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贝之然｜谷歌搜索引擎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6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9340" name="Rectangle 17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9341" name="TextBox 18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42" name="TextBox 19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57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40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9345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300" name="page-title"/>
          <p:cNvGrpSpPr/>
          <p:nvPr/>
        </p:nvGrpSpPr>
        <p:grpSpPr>
          <a:xfrm>
            <a:off x="746760" y="622300"/>
            <a:ext cx="2682240" cy="892175"/>
            <a:chOff x="746760" y="622300"/>
            <a:chExt cx="2682240" cy="892175"/>
          </a:xfrm>
        </p:grpSpPr>
        <p:sp>
          <p:nvSpPr>
            <p:cNvPr id="1049346" name="TextBox 4"/>
            <p:cNvSpPr txBox="1"/>
            <p:nvPr/>
          </p:nvSpPr>
          <p:spPr>
            <a:xfrm>
              <a:off x="746760" y="622300"/>
              <a:ext cx="2286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中国电商平台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47" name="TextBox 5"/>
            <p:cNvSpPr txBox="1"/>
            <p:nvPr/>
          </p:nvSpPr>
          <p:spPr>
            <a:xfrm>
              <a:off x="755904" y="1143000"/>
              <a:ext cx="2157562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Chinese E-commerce Platforms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48" name="Freeform 6"/>
            <p:cNvSpPr/>
            <p:nvPr/>
          </p:nvSpPr>
          <p:spPr>
            <a:xfrm>
              <a:off x="762000" y="15049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301" name="ecom-text"/>
          <p:cNvGrpSpPr/>
          <p:nvPr/>
        </p:nvGrpSpPr>
        <p:grpSpPr>
          <a:xfrm>
            <a:off x="754380" y="1803400"/>
            <a:ext cx="6553200" cy="228600"/>
            <a:chOff x="754380" y="1803400"/>
            <a:chExt cx="6553200" cy="228600"/>
          </a:xfrm>
        </p:grpSpPr>
        <p:sp>
          <p:nvSpPr>
            <p:cNvPr id="1049349" name="TextBox 8"/>
            <p:cNvSpPr txBox="1"/>
            <p:nvPr/>
          </p:nvSpPr>
          <p:spPr>
            <a:xfrm>
              <a:off x="754380" y="1803400"/>
              <a:ext cx="6553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淘宝与京东店铺已上线，1688 与拼多多同步铺货，覆盖批发与零售两类客户。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2" name="ecom-shots"/>
          <p:cNvGrpSpPr/>
          <p:nvPr/>
        </p:nvGrpSpPr>
        <p:grpSpPr>
          <a:xfrm>
            <a:off x="755904" y="2533650"/>
            <a:ext cx="10674096" cy="3263900"/>
            <a:chOff x="755904" y="2533650"/>
            <a:chExt cx="10674096" cy="3263900"/>
          </a:xfrm>
        </p:grpSpPr>
        <p:pic>
          <p:nvPicPr>
            <p:cNvPr id="2097241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6655" y="2533650"/>
              <a:ext cx="4994189" cy="2095500"/>
            </a:xfrm>
            <a:prstGeom prst="rect">
              <a:avLst/>
            </a:prstGeom>
          </p:spPr>
        </p:pic>
        <p:sp>
          <p:nvSpPr>
            <p:cNvPr id="1049350" name="Freeform 11"/>
            <p:cNvSpPr/>
            <p:nvPr/>
          </p:nvSpPr>
          <p:spPr>
            <a:xfrm>
              <a:off x="762000" y="2533650"/>
              <a:ext cx="5143500" cy="2095500"/>
            </a:xfrm>
            <a:custGeom>
              <a:avLst/>
              <a:gdLst/>
              <a:ahLst/>
              <a:cxnLst/>
              <a:rect l="l" t="t" r="r" b="b"/>
              <a:pathLst>
                <a:path w="5143500" h="2095500">
                  <a:moveTo>
                    <a:pt x="0" y="0"/>
                  </a:moveTo>
                  <a:lnTo>
                    <a:pt x="5143500" y="0"/>
                  </a:lnTo>
                  <a:lnTo>
                    <a:pt x="5143500" y="2095500"/>
                  </a:lnTo>
                  <a:lnTo>
                    <a:pt x="0" y="2095500"/>
                  </a:lnTo>
                  <a:close/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49351" name="TextBox 12"/>
            <p:cNvSpPr txBox="1"/>
            <p:nvPr/>
          </p:nvSpPr>
          <p:spPr>
            <a:xfrm>
              <a:off x="756666" y="4749800"/>
              <a:ext cx="508001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淘宝电商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2097242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61155" y="2533650"/>
              <a:ext cx="4994189" cy="2095500"/>
            </a:xfrm>
            <a:prstGeom prst="rect">
              <a:avLst/>
            </a:prstGeom>
          </p:spPr>
        </p:pic>
        <p:sp>
          <p:nvSpPr>
            <p:cNvPr id="1049352" name="Freeform 14"/>
            <p:cNvSpPr/>
            <p:nvPr/>
          </p:nvSpPr>
          <p:spPr>
            <a:xfrm>
              <a:off x="6286500" y="2533650"/>
              <a:ext cx="5143500" cy="2095500"/>
            </a:xfrm>
            <a:custGeom>
              <a:avLst/>
              <a:gdLst/>
              <a:ahLst/>
              <a:cxnLst/>
              <a:rect l="l" t="t" r="r" b="b"/>
              <a:pathLst>
                <a:path w="5143500" h="2095500">
                  <a:moveTo>
                    <a:pt x="0" y="0"/>
                  </a:moveTo>
                  <a:lnTo>
                    <a:pt x="5143500" y="0"/>
                  </a:lnTo>
                  <a:lnTo>
                    <a:pt x="5143500" y="2095500"/>
                  </a:lnTo>
                  <a:lnTo>
                    <a:pt x="0" y="2095500"/>
                  </a:lnTo>
                  <a:close/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49353" name="TextBox 15"/>
            <p:cNvSpPr txBox="1"/>
            <p:nvPr/>
          </p:nvSpPr>
          <p:spPr>
            <a:xfrm>
              <a:off x="6281166" y="4749800"/>
              <a:ext cx="5080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京东电商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54" name="TextBox 16"/>
            <p:cNvSpPr txBox="1"/>
            <p:nvPr/>
          </p:nvSpPr>
          <p:spPr>
            <a:xfrm>
              <a:off x="755904" y="5276850"/>
              <a:ext cx="28956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平台店铺截图，展示店铺首页与主推产品。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55" name="Freeform 17"/>
            <p:cNvSpPr/>
            <p:nvPr/>
          </p:nvSpPr>
          <p:spPr>
            <a:xfrm>
              <a:off x="762000" y="57150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9356" name="TextBox 18"/>
            <p:cNvSpPr txBox="1"/>
            <p:nvPr/>
          </p:nvSpPr>
          <p:spPr>
            <a:xfrm>
              <a:off x="1022604" y="5619750"/>
              <a:ext cx="18415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1688 / 淘宝 / 京东 / 拼多多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3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9357" name="Rectangle 2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9358" name="TextBox 21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59" name="TextBox 22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58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3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43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9362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307" name="page-title"/>
          <p:cNvGrpSpPr/>
          <p:nvPr/>
        </p:nvGrpSpPr>
        <p:grpSpPr>
          <a:xfrm>
            <a:off x="746760" y="622300"/>
            <a:ext cx="2872740" cy="892175"/>
            <a:chOff x="746760" y="622300"/>
            <a:chExt cx="2872740" cy="892175"/>
          </a:xfrm>
        </p:grpSpPr>
        <p:sp>
          <p:nvSpPr>
            <p:cNvPr id="1049363" name="TextBox 4"/>
            <p:cNvSpPr txBox="1"/>
            <p:nvPr/>
          </p:nvSpPr>
          <p:spPr>
            <a:xfrm>
              <a:off x="746760" y="622300"/>
              <a:ext cx="2667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中国短视频平台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64" name="TextBox 5"/>
            <p:cNvSpPr txBox="1"/>
            <p:nvPr/>
          </p:nvSpPr>
          <p:spPr>
            <a:xfrm>
              <a:off x="755904" y="1143000"/>
              <a:ext cx="2086521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Chinese Short-video Platforms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65" name="Freeform 6"/>
            <p:cNvSpPr/>
            <p:nvPr/>
          </p:nvSpPr>
          <p:spPr>
            <a:xfrm>
              <a:off x="762000" y="15049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308" name="video-text"/>
          <p:cNvGrpSpPr/>
          <p:nvPr/>
        </p:nvGrpSpPr>
        <p:grpSpPr>
          <a:xfrm>
            <a:off x="754380" y="1803400"/>
            <a:ext cx="5905500" cy="228600"/>
            <a:chOff x="754380" y="1803400"/>
            <a:chExt cx="5905500" cy="228600"/>
          </a:xfrm>
        </p:grpSpPr>
        <p:sp>
          <p:nvSpPr>
            <p:cNvPr id="1049366" name="TextBox 8"/>
            <p:cNvSpPr txBox="1"/>
            <p:nvPr/>
          </p:nvSpPr>
          <p:spPr>
            <a:xfrm>
              <a:off x="754380" y="1803400"/>
              <a:ext cx="5905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抖音与哔哩哔哩账号持续更新：施工过程、旧墙改造对比与产品实验。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9" name="video-shots"/>
          <p:cNvGrpSpPr/>
          <p:nvPr/>
        </p:nvGrpSpPr>
        <p:grpSpPr>
          <a:xfrm>
            <a:off x="755904" y="2533650"/>
            <a:ext cx="10674096" cy="2978151"/>
            <a:chOff x="755904" y="2533650"/>
            <a:chExt cx="10674096" cy="2978151"/>
          </a:xfrm>
        </p:grpSpPr>
        <p:pic>
          <p:nvPicPr>
            <p:cNvPr id="2097244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3758" y="2533650"/>
              <a:ext cx="4579985" cy="2190750"/>
            </a:xfrm>
            <a:prstGeom prst="rect">
              <a:avLst/>
            </a:prstGeom>
          </p:spPr>
        </p:pic>
        <p:sp>
          <p:nvSpPr>
            <p:cNvPr id="1049367" name="Freeform 11"/>
            <p:cNvSpPr/>
            <p:nvPr/>
          </p:nvSpPr>
          <p:spPr>
            <a:xfrm>
              <a:off x="762000" y="2533650"/>
              <a:ext cx="5143500" cy="2190750"/>
            </a:xfrm>
            <a:custGeom>
              <a:avLst/>
              <a:gdLst/>
              <a:ahLst/>
              <a:cxnLst/>
              <a:rect l="l" t="t" r="r" b="b"/>
              <a:pathLst>
                <a:path w="5143500" h="2190750">
                  <a:moveTo>
                    <a:pt x="0" y="0"/>
                  </a:moveTo>
                  <a:lnTo>
                    <a:pt x="5143500" y="0"/>
                  </a:lnTo>
                  <a:lnTo>
                    <a:pt x="5143500" y="2190750"/>
                  </a:lnTo>
                  <a:lnTo>
                    <a:pt x="0" y="2190750"/>
                  </a:lnTo>
                  <a:close/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49368" name="TextBox 12"/>
            <p:cNvSpPr txBox="1"/>
            <p:nvPr/>
          </p:nvSpPr>
          <p:spPr>
            <a:xfrm>
              <a:off x="756666" y="4845050"/>
              <a:ext cx="6350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抖音短视频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2097245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68258" y="2533650"/>
              <a:ext cx="4579985" cy="2190750"/>
            </a:xfrm>
            <a:prstGeom prst="rect">
              <a:avLst/>
            </a:prstGeom>
          </p:spPr>
        </p:pic>
        <p:sp>
          <p:nvSpPr>
            <p:cNvPr id="1049369" name="Freeform 14"/>
            <p:cNvSpPr/>
            <p:nvPr/>
          </p:nvSpPr>
          <p:spPr>
            <a:xfrm>
              <a:off x="6286500" y="2533650"/>
              <a:ext cx="5143500" cy="2190750"/>
            </a:xfrm>
            <a:custGeom>
              <a:avLst/>
              <a:gdLst/>
              <a:ahLst/>
              <a:cxnLst/>
              <a:rect l="l" t="t" r="r" b="b"/>
              <a:pathLst>
                <a:path w="5143500" h="2190750">
                  <a:moveTo>
                    <a:pt x="0" y="0"/>
                  </a:moveTo>
                  <a:lnTo>
                    <a:pt x="5143500" y="0"/>
                  </a:lnTo>
                  <a:lnTo>
                    <a:pt x="5143500" y="2190750"/>
                  </a:lnTo>
                  <a:lnTo>
                    <a:pt x="0" y="2190750"/>
                  </a:lnTo>
                  <a:close/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49370" name="TextBox 15"/>
            <p:cNvSpPr txBox="1"/>
            <p:nvPr/>
          </p:nvSpPr>
          <p:spPr>
            <a:xfrm>
              <a:off x="6281166" y="4845050"/>
              <a:ext cx="9652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Bilibili 弹幕视频站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71" name="TextBox 16"/>
            <p:cNvSpPr txBox="1"/>
            <p:nvPr/>
          </p:nvSpPr>
          <p:spPr>
            <a:xfrm>
              <a:off x="755904" y="5334000"/>
              <a:ext cx="28956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账号主页截图，展示内容栏目与更新节奏。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0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9372" name="Rectangle 18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9373" name="TextBox 19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74" name="TextBox 20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59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3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46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9377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314" name="page-title"/>
          <p:cNvGrpSpPr/>
          <p:nvPr/>
        </p:nvGrpSpPr>
        <p:grpSpPr>
          <a:xfrm>
            <a:off x="746760" y="622300"/>
            <a:ext cx="2682240" cy="892175"/>
            <a:chOff x="746760" y="622300"/>
            <a:chExt cx="2682240" cy="892175"/>
          </a:xfrm>
        </p:grpSpPr>
        <p:sp>
          <p:nvSpPr>
            <p:cNvPr id="1049378" name="TextBox 4"/>
            <p:cNvSpPr txBox="1"/>
            <p:nvPr/>
          </p:nvSpPr>
          <p:spPr>
            <a:xfrm>
              <a:off x="746760" y="622300"/>
              <a:ext cx="22860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中国社媒平台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79" name="TextBox 5"/>
            <p:cNvSpPr txBox="1"/>
            <p:nvPr/>
          </p:nvSpPr>
          <p:spPr>
            <a:xfrm>
              <a:off x="755904" y="1143000"/>
              <a:ext cx="17272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Chinese Social Platforms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80" name="Freeform 6"/>
            <p:cNvSpPr/>
            <p:nvPr/>
          </p:nvSpPr>
          <p:spPr>
            <a:xfrm>
              <a:off x="762000" y="15049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315" name="social-text"/>
          <p:cNvGrpSpPr/>
          <p:nvPr/>
        </p:nvGrpSpPr>
        <p:grpSpPr>
          <a:xfrm>
            <a:off x="754380" y="1803400"/>
            <a:ext cx="6667500" cy="228600"/>
            <a:chOff x="754380" y="1803400"/>
            <a:chExt cx="6667500" cy="228600"/>
          </a:xfrm>
        </p:grpSpPr>
        <p:sp>
          <p:nvSpPr>
            <p:cNvPr id="1049381" name="TextBox 8"/>
            <p:cNvSpPr txBox="1"/>
            <p:nvPr/>
          </p:nvSpPr>
          <p:spPr>
            <a:xfrm>
              <a:off x="754380" y="1803400"/>
              <a:ext cx="666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百家号、小红书、微博与知乎同步运营，覆盖图文种草、案例分享与专业问答。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6" name="social-shots"/>
          <p:cNvGrpSpPr/>
          <p:nvPr/>
        </p:nvGrpSpPr>
        <p:grpSpPr>
          <a:xfrm>
            <a:off x="756666" y="2533650"/>
            <a:ext cx="10673334" cy="3117851"/>
            <a:chOff x="756666" y="2533650"/>
            <a:chExt cx="10673334" cy="3117851"/>
          </a:xfrm>
        </p:grpSpPr>
        <p:pic>
          <p:nvPicPr>
            <p:cNvPr id="2097247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98337" y="2533650"/>
              <a:ext cx="3670826" cy="2857500"/>
            </a:xfrm>
            <a:prstGeom prst="rect">
              <a:avLst/>
            </a:prstGeom>
          </p:spPr>
        </p:pic>
        <p:sp>
          <p:nvSpPr>
            <p:cNvPr id="1049382" name="Freeform 11"/>
            <p:cNvSpPr/>
            <p:nvPr/>
          </p:nvSpPr>
          <p:spPr>
            <a:xfrm>
              <a:off x="762000" y="2533650"/>
              <a:ext cx="5143500" cy="2857500"/>
            </a:xfrm>
            <a:custGeom>
              <a:avLst/>
              <a:gdLst/>
              <a:ahLst/>
              <a:cxnLst/>
              <a:rect l="l" t="t" r="r" b="b"/>
              <a:pathLst>
                <a:path w="5143500" h="2857500">
                  <a:moveTo>
                    <a:pt x="0" y="0"/>
                  </a:moveTo>
                  <a:lnTo>
                    <a:pt x="5143500" y="0"/>
                  </a:lnTo>
                  <a:lnTo>
                    <a:pt x="5143500" y="2857500"/>
                  </a:lnTo>
                  <a:lnTo>
                    <a:pt x="0" y="2857500"/>
                  </a:lnTo>
                  <a:close/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49383" name="TextBox 12"/>
            <p:cNvSpPr txBox="1"/>
            <p:nvPr/>
          </p:nvSpPr>
          <p:spPr>
            <a:xfrm>
              <a:off x="756666" y="5511800"/>
              <a:ext cx="863600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百家号 / 小红书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2097248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22837" y="2533650"/>
              <a:ext cx="3670826" cy="2857500"/>
            </a:xfrm>
            <a:prstGeom prst="rect">
              <a:avLst/>
            </a:prstGeom>
          </p:spPr>
        </p:pic>
        <p:sp>
          <p:nvSpPr>
            <p:cNvPr id="1049384" name="Freeform 14"/>
            <p:cNvSpPr/>
            <p:nvPr/>
          </p:nvSpPr>
          <p:spPr>
            <a:xfrm>
              <a:off x="6286500" y="2533650"/>
              <a:ext cx="5143500" cy="2857500"/>
            </a:xfrm>
            <a:custGeom>
              <a:avLst/>
              <a:gdLst/>
              <a:ahLst/>
              <a:cxnLst/>
              <a:rect l="l" t="t" r="r" b="b"/>
              <a:pathLst>
                <a:path w="5143500" h="2857500">
                  <a:moveTo>
                    <a:pt x="0" y="0"/>
                  </a:moveTo>
                  <a:lnTo>
                    <a:pt x="5143500" y="0"/>
                  </a:lnTo>
                  <a:lnTo>
                    <a:pt x="5143500" y="2857500"/>
                  </a:lnTo>
                  <a:lnTo>
                    <a:pt x="0" y="2857500"/>
                  </a:lnTo>
                  <a:close/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49385" name="TextBox 15"/>
            <p:cNvSpPr txBox="1"/>
            <p:nvPr/>
          </p:nvSpPr>
          <p:spPr>
            <a:xfrm>
              <a:off x="6281166" y="5511800"/>
              <a:ext cx="609601" cy="1397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微博 / 知乎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7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9386" name="Rectangle 17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9387" name="TextBox 18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88" name="TextBox 19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60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3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brand-logo"/>
          <p:cNvGrpSpPr/>
          <p:nvPr/>
        </p:nvGrpSpPr>
        <p:grpSpPr>
          <a:xfrm>
            <a:off x="914400" y="838200"/>
            <a:ext cx="2171700" cy="1066800"/>
            <a:chOff x="914400" y="838200"/>
            <a:chExt cx="2171700" cy="1066800"/>
          </a:xfrm>
        </p:grpSpPr>
        <p:sp>
          <p:nvSpPr>
            <p:cNvPr id="1049391" name="Rectangle 2"/>
            <p:cNvSpPr/>
            <p:nvPr/>
          </p:nvSpPr>
          <p:spPr>
            <a:xfrm>
              <a:off x="914400" y="838200"/>
              <a:ext cx="2171700" cy="1066800"/>
            </a:xfrm>
            <a:prstGeom prst="roundRect">
              <a:avLst>
                <a:gd name="adj" fmla="val 5357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2097249" name="Image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90600" y="928020"/>
              <a:ext cx="2019300" cy="887160"/>
            </a:xfrm>
            <a:prstGeom prst="rect">
              <a:avLst/>
            </a:prstGeom>
          </p:spPr>
        </p:pic>
      </p:grpSp>
      <p:pic>
        <p:nvPicPr>
          <p:cNvPr id="2097250" name="backdrop"/>
          <p:cNvPicPr>
            <a:picLocks noChangeAspect="1"/>
          </p:cNvPicPr>
          <p:nvPr/>
        </p:nvPicPr>
        <p:blipFill>
          <a:blip r:embed="rId2"/>
          <a:srcRect l="8" r="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9392" name="scrim"/>
          <p:cNvSpPr/>
          <p:nvPr/>
        </p:nvSpPr>
        <p:spPr>
          <a:xfrm>
            <a:off x="0" y="0"/>
            <a:ext cx="7239000" cy="6858000"/>
          </a:xfrm>
          <a:prstGeom prst="rect">
            <a:avLst/>
          </a:prstGeom>
          <a:solidFill>
            <a:srgbClr val="0E2429">
              <a:alpha val="86000"/>
            </a:srgbClr>
          </a:solidFill>
          <a:ln>
            <a:noFill/>
          </a:ln>
        </p:spPr>
      </p:sp>
      <p:sp>
        <p:nvSpPr>
          <p:cNvPr id="1049393" name="back-orange"/>
          <p:cNvSpPr/>
          <p:nvPr/>
        </p:nvSpPr>
        <p:spPr>
          <a:xfrm>
            <a:off x="7239000" y="0"/>
            <a:ext cx="2190750" cy="6858000"/>
          </a:xfrm>
          <a:custGeom>
            <a:avLst/>
            <a:gdLst/>
            <a:ahLst/>
            <a:cxnLst/>
            <a:rect l="l" t="t" r="r" b="b"/>
            <a:pathLst>
              <a:path w="2190750" h="6858000">
                <a:moveTo>
                  <a:pt x="0" y="0"/>
                </a:moveTo>
                <a:lnTo>
                  <a:pt x="285750" y="0"/>
                </a:lnTo>
                <a:lnTo>
                  <a:pt x="2190750" y="6858000"/>
                </a:lnTo>
                <a:lnTo>
                  <a:pt x="190500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grpSp>
        <p:nvGrpSpPr>
          <p:cNvPr id="322" name="back-title"/>
          <p:cNvGrpSpPr/>
          <p:nvPr/>
        </p:nvGrpSpPr>
        <p:grpSpPr>
          <a:xfrm>
            <a:off x="895350" y="1276350"/>
            <a:ext cx="2973195" cy="1187450"/>
            <a:chOff x="895350" y="1276350"/>
            <a:chExt cx="2973195" cy="1187450"/>
          </a:xfrm>
        </p:grpSpPr>
        <p:sp>
          <p:nvSpPr>
            <p:cNvPr id="1049394" name="TextBox 8"/>
            <p:cNvSpPr txBox="1"/>
            <p:nvPr/>
          </p:nvSpPr>
          <p:spPr>
            <a:xfrm>
              <a:off x="908304" y="1276350"/>
              <a:ext cx="954088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CONTACT</a:t>
              </a:r>
              <a:endParaRPr lang="en-US" sz="1200" spc="3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95" name="TextBox 9"/>
            <p:cNvSpPr txBox="1"/>
            <p:nvPr/>
          </p:nvSpPr>
          <p:spPr>
            <a:xfrm>
              <a:off x="895350" y="1606550"/>
              <a:ext cx="2133600" cy="622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联系我们</a:t>
              </a:r>
              <a:endParaRPr lang="zh-CN" sz="4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96" name="TextBox 10"/>
            <p:cNvSpPr txBox="1"/>
            <p:nvPr/>
          </p:nvSpPr>
          <p:spPr>
            <a:xfrm>
              <a:off x="908304" y="2286000"/>
              <a:ext cx="2960241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spc="1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ONCE CONTACT, NEVER SEPERATE</a:t>
              </a:r>
              <a:endParaRPr lang="en-US" sz="1200" spc="150" dirty="0">
                <a:solidFill>
                  <a:srgbClr val="F4F1E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3" name="back-contact"/>
          <p:cNvGrpSpPr/>
          <p:nvPr/>
        </p:nvGrpSpPr>
        <p:grpSpPr>
          <a:xfrm>
            <a:off x="905256" y="3048000"/>
            <a:ext cx="3748024" cy="2222500"/>
            <a:chOff x="905256" y="3048000"/>
            <a:chExt cx="3748024" cy="2222500"/>
          </a:xfrm>
        </p:grpSpPr>
        <p:sp>
          <p:nvSpPr>
            <p:cNvPr id="1049397" name="TextBox 12"/>
            <p:cNvSpPr txBox="1"/>
            <p:nvPr/>
          </p:nvSpPr>
          <p:spPr>
            <a:xfrm>
              <a:off x="908304" y="3048000"/>
              <a:ext cx="762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品牌创始人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98" name="TextBox 13"/>
            <p:cNvSpPr txBox="1"/>
            <p:nvPr/>
          </p:nvSpPr>
          <p:spPr>
            <a:xfrm>
              <a:off x="905256" y="3327400"/>
              <a:ext cx="2128689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罗博荣　Luo BoRong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99" name="TextBox 14"/>
            <p:cNvSpPr txBox="1"/>
            <p:nvPr/>
          </p:nvSpPr>
          <p:spPr>
            <a:xfrm>
              <a:off x="908304" y="3886200"/>
              <a:ext cx="7493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电话 / 微信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400" name="TextBox 15"/>
            <p:cNvSpPr txBox="1"/>
            <p:nvPr/>
          </p:nvSpPr>
          <p:spPr>
            <a:xfrm>
              <a:off x="905256" y="4152900"/>
              <a:ext cx="1930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+86 136 0262 9536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401" name="TextBox 16"/>
            <p:cNvSpPr txBox="1"/>
            <p:nvPr/>
          </p:nvSpPr>
          <p:spPr>
            <a:xfrm>
              <a:off x="908304" y="4724400"/>
              <a:ext cx="7493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邮箱 / 官网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402" name="TextBox 17"/>
            <p:cNvSpPr txBox="1"/>
            <p:nvPr/>
          </p:nvSpPr>
          <p:spPr>
            <a:xfrm>
              <a:off x="906780" y="5041900"/>
              <a:ext cx="3746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954405791@qq.com　·　bestlandpaint.com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4" name="back-address"/>
          <p:cNvGrpSpPr/>
          <p:nvPr/>
        </p:nvGrpSpPr>
        <p:grpSpPr>
          <a:xfrm>
            <a:off x="907542" y="5619750"/>
            <a:ext cx="4127500" cy="463551"/>
            <a:chOff x="907542" y="5619750"/>
            <a:chExt cx="4127500" cy="463551"/>
          </a:xfrm>
        </p:grpSpPr>
        <p:sp>
          <p:nvSpPr>
            <p:cNvPr id="1049403" name="TextBox 19"/>
            <p:cNvSpPr txBox="1"/>
            <p:nvPr/>
          </p:nvSpPr>
          <p:spPr>
            <a:xfrm>
              <a:off x="908304" y="5619750"/>
              <a:ext cx="609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公司地址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404" name="TextBox 20"/>
            <p:cNvSpPr txBox="1"/>
            <p:nvPr/>
          </p:nvSpPr>
          <p:spPr>
            <a:xfrm>
              <a:off x="907542" y="5892800"/>
              <a:ext cx="4127500" cy="1905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altLang="en-US" sz="13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东莞市大岭山镇杨屋越秀大厦</a:t>
              </a:r>
              <a:r>
                <a:rPr lang="zh-CN" sz="13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　东莞市贝歌科技有限公司</a:t>
              </a:r>
              <a:endParaRPr lang="zh-CN" sz="1350" dirty="0">
                <a:solidFill>
                  <a:srgbClr val="F4F1EA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49405" name="TextBox 22"/>
          <p:cNvSpPr txBox="1"/>
          <p:nvPr/>
        </p:nvSpPr>
        <p:spPr>
          <a:xfrm>
            <a:off x="11103540" y="6235700"/>
            <a:ext cx="406401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r"/>
            <a:r>
              <a: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79 / 79</a:t>
            </a:r>
            <a:endParaRPr lang="zh-CN" sz="105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325" y="3035300"/>
            <a:ext cx="1384300" cy="1384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beizhiran_widescreen">
  <a:themeElements>
    <a:clrScheme name="beizhiran_widescreen">
      <a:dk1>
        <a:srgbClr val="1D2226"/>
      </a:dk1>
      <a:lt1>
        <a:srgbClr val="FFFFFF"/>
      </a:lt1>
      <a:dk2>
        <a:srgbClr val="1F497D"/>
      </a:dk2>
      <a:lt2>
        <a:srgbClr val="F4F1EA"/>
      </a:lt2>
      <a:accent1>
        <a:srgbClr val="1F3A44"/>
      </a:accent1>
      <a:accent2>
        <a:srgbClr val="F0A22E"/>
      </a:accent2>
      <a:accent3>
        <a:srgbClr val="2F6FB2"/>
      </a:accent3>
      <a:accent4>
        <a:srgbClr val="1F3A44"/>
      </a:accent4>
      <a:accent5>
        <a:srgbClr val="5C666B"/>
      </a:accent5>
      <a:accent6>
        <a:srgbClr val="D8D2C6"/>
      </a:accent6>
      <a:hlink>
        <a:srgbClr val="F0A22E"/>
      </a:hlink>
      <a:folHlink>
        <a:srgbClr val="2F6FB2"/>
      </a:folHlink>
    </a:clrScheme>
    <a:fontScheme name="beizhiran_widescreen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izhiran_widescree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eizhiran_widescreen">
  <a:themeElements>
    <a:clrScheme name="beizhiran_widescreen">
      <a:dk1>
        <a:srgbClr val="1D2226"/>
      </a:dk1>
      <a:lt1>
        <a:srgbClr val="FFFFFF"/>
      </a:lt1>
      <a:dk2>
        <a:srgbClr val="1F497D"/>
      </a:dk2>
      <a:lt2>
        <a:srgbClr val="F4F1EA"/>
      </a:lt2>
      <a:accent1>
        <a:srgbClr val="1F3A44"/>
      </a:accent1>
      <a:accent2>
        <a:srgbClr val="F0A22E"/>
      </a:accent2>
      <a:accent3>
        <a:srgbClr val="2F6FB2"/>
      </a:accent3>
      <a:accent4>
        <a:srgbClr val="1F3A44"/>
      </a:accent4>
      <a:accent5>
        <a:srgbClr val="5C666B"/>
      </a:accent5>
      <a:accent6>
        <a:srgbClr val="D8D2C6"/>
      </a:accent6>
      <a:hlink>
        <a:srgbClr val="F0A22E"/>
      </a:hlink>
      <a:folHlink>
        <a:srgbClr val="2F6FB2"/>
      </a:folHlink>
    </a:clrScheme>
    <a:fontScheme name="beizhiran_widescreen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izhiran_widescree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7703</Words>
  <Application>WPS 演示</Application>
  <PresentationFormat/>
  <Paragraphs>1062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1" baseType="lpstr">
      <vt:lpstr>Arial</vt:lpstr>
      <vt:lpstr>宋体</vt:lpstr>
      <vt:lpstr>Wingdings</vt:lpstr>
      <vt:lpstr>Arial</vt:lpstr>
      <vt:lpstr>微软雅黑</vt:lpstr>
      <vt:lpstr>Arial Unicode MS</vt:lpstr>
      <vt:lpstr>Microsoft JhengHei</vt:lpstr>
      <vt:lpstr>beizhiran_widescreen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HiDPTAndroid Hi3751V560</dc:creator>
  <cp:lastModifiedBy>罗世凯</cp:lastModifiedBy>
  <cp:revision>6</cp:revision>
  <dcterms:created xsi:type="dcterms:W3CDTF">2026-10-26T09:22:00Z</dcterms:created>
  <dcterms:modified xsi:type="dcterms:W3CDTF">2026-10-28T04:35:48Z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43F1E23B367A45A0919643E3A0069ADE_12</vt:lpwstr>
  </property>
</Properties>
</file>